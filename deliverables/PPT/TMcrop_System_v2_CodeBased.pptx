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0" y="0"/>
            <a:ext cx="3504895" cy="685800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5029200"/>
            <a:ext cx="4419295" cy="1828800"/>
          </a:xfrm>
          <a:prstGeom prst="rect">
            <a:avLst/>
          </a:prstGeom>
          <a:solidFill>
            <a:srgbClr val="2D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11680"/>
            <a:ext cx="7315200" cy="1097280"/>
          </a:xfrm>
          <a:prstGeom prst="rect">
            <a:avLst/>
          </a:prstGeom>
          <a:noFill/>
        </p:spPr>
        <p:txBody>
          <a:bodyPr wrap="none">
            <a:spAutoFit/>
          </a:bodyPr>
          <a:lstStyle/>
          <a:p>
            <a:pPr>
              <a:defRPr sz="4800" b="1">
                <a:solidFill>
                  <a:srgbClr val="1A565E"/>
                </a:solidFill>
                <a:latin typeface="Microsoft YaHei"/>
              </a:defRPr>
            </a:pPr>
            <a:r>
              <a:t>弘智耘 智慧农业管理系统</a:t>
            </a:r>
          </a:p>
        </p:txBody>
      </p:sp>
      <p:sp>
        <p:nvSpPr>
          <p:cNvPr id="7" name="TextBox 6"/>
          <p:cNvSpPr txBox="1"/>
          <p:nvPr/>
        </p:nvSpPr>
        <p:spPr>
          <a:xfrm>
            <a:off x="731520" y="3108960"/>
            <a:ext cx="7315200" cy="548640"/>
          </a:xfrm>
          <a:prstGeom prst="rect">
            <a:avLst/>
          </a:prstGeom>
          <a:noFill/>
        </p:spPr>
        <p:txBody>
          <a:bodyPr wrap="none">
            <a:spAutoFit/>
          </a:bodyPr>
          <a:lstStyle/>
          <a:p>
            <a:pPr>
              <a:defRPr sz="2400">
                <a:solidFill>
                  <a:srgbClr val="2D8B8B"/>
                </a:solidFill>
                <a:latin typeface="Microsoft YaHei"/>
              </a:defRPr>
            </a:pPr>
            <a:r>
              <a:t>系统功能介绍与架构说明（基于源码提取）</a:t>
            </a:r>
          </a:p>
        </p:txBody>
      </p:sp>
      <p:sp>
        <p:nvSpPr>
          <p:cNvPr id="8" name="TextBox 7"/>
          <p:cNvSpPr txBox="1"/>
          <p:nvPr/>
        </p:nvSpPr>
        <p:spPr>
          <a:xfrm>
            <a:off x="731520" y="3931920"/>
            <a:ext cx="7315200" cy="1371600"/>
          </a:xfrm>
          <a:prstGeom prst="rect">
            <a:avLst/>
          </a:prstGeom>
          <a:noFill/>
        </p:spPr>
        <p:txBody>
          <a:bodyPr wrap="square">
            <a:spAutoFit/>
          </a:bodyPr>
          <a:lstStyle/>
          <a:p>
            <a:pPr>
              <a:spcAft>
                <a:spcPts val="800"/>
              </a:spcAft>
              <a:defRPr sz="1400">
                <a:solidFill>
                  <a:srgbClr val="6B7280"/>
                </a:solidFill>
                <a:latin typeface="Microsoft YaHei"/>
              </a:defRPr>
            </a:pPr>
            <a:r>
              <a:t>版本号：V1.1</a:t>
            </a:r>
          </a:p>
          <a:p>
            <a:pPr>
              <a:spcAft>
                <a:spcPts val="800"/>
              </a:spcAft>
              <a:defRPr sz="1400">
                <a:solidFill>
                  <a:srgbClr val="6B7280"/>
                </a:solidFill>
                <a:latin typeface="Microsoft YaHei"/>
              </a:defRPr>
            </a:pPr>
            <a:r>
              <a:t>技术栈：React 18 + TypeScript + Vite + Express + SQLite</a:t>
            </a:r>
          </a:p>
          <a:p>
            <a:pPr>
              <a:spcAft>
                <a:spcPts val="800"/>
              </a:spcAft>
              <a:defRPr sz="1400">
                <a:solidFill>
                  <a:srgbClr val="6B7280"/>
                </a:solidFill>
                <a:latin typeface="Microsoft YaHei"/>
              </a:defRPr>
            </a:pPr>
            <a:r>
              <a:t>前端页面：80+（含懒加载）</a:t>
            </a:r>
          </a:p>
          <a:p>
            <a:pPr>
              <a:spcAft>
                <a:spcPts val="800"/>
              </a:spcAft>
              <a:defRPr sz="1400">
                <a:solidFill>
                  <a:srgbClr val="6B7280"/>
                </a:solidFill>
                <a:latin typeface="Microsoft YaHei"/>
              </a:defRPr>
            </a:pPr>
            <a:r>
              <a:t>后端API路由：40+</a:t>
            </a:r>
          </a:p>
          <a:p>
            <a:pPr>
              <a:spcAft>
                <a:spcPts val="800"/>
              </a:spcAft>
              <a:defRPr sz="1400">
                <a:solidFill>
                  <a:srgbClr val="6B7280"/>
                </a:solidFill>
                <a:latin typeface="Microsoft YaHei"/>
              </a:defRPr>
            </a:pPr>
            <a:r>
              <a:t>数据库表：50+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目 录</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CONTENTS</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48640" cy="457200"/>
          </a:xfrm>
          <a:prstGeom prst="round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01</a:t>
            </a:r>
          </a:p>
        </p:txBody>
      </p:sp>
      <p:sp>
        <p:nvSpPr>
          <p:cNvPr id="7" name="TextBox 6"/>
          <p:cNvSpPr txBox="1"/>
          <p:nvPr/>
        </p:nvSpPr>
        <p:spPr>
          <a:xfrm>
            <a:off x="1188720" y="1371600"/>
            <a:ext cx="4114800" cy="320040"/>
          </a:xfrm>
          <a:prstGeom prst="rect">
            <a:avLst/>
          </a:prstGeom>
          <a:noFill/>
        </p:spPr>
        <p:txBody>
          <a:bodyPr wrap="none">
            <a:spAutoFit/>
          </a:bodyPr>
          <a:lstStyle/>
          <a:p>
            <a:pPr>
              <a:defRPr sz="1600" b="1">
                <a:solidFill>
                  <a:srgbClr val="1F2937"/>
                </a:solidFill>
                <a:latin typeface="Microsoft YaHei"/>
              </a:defRPr>
            </a:pPr>
            <a:r>
              <a:t>系统概述与技术架构</a:t>
            </a:r>
          </a:p>
        </p:txBody>
      </p:sp>
      <p:sp>
        <p:nvSpPr>
          <p:cNvPr id="8" name="TextBox 7"/>
          <p:cNvSpPr txBox="1"/>
          <p:nvPr/>
        </p:nvSpPr>
        <p:spPr>
          <a:xfrm>
            <a:off x="1188720" y="1691640"/>
            <a:ext cx="4114800" cy="457200"/>
          </a:xfrm>
          <a:prstGeom prst="rect">
            <a:avLst/>
          </a:prstGeom>
          <a:noFill/>
        </p:spPr>
        <p:txBody>
          <a:bodyPr wrap="square">
            <a:spAutoFit/>
          </a:bodyPr>
          <a:lstStyle/>
          <a:p>
            <a:pPr>
              <a:defRPr sz="1100">
                <a:solidFill>
                  <a:srgbClr val="6B7280"/>
                </a:solidFill>
                <a:latin typeface="Microsoft YaHei"/>
              </a:defRPr>
            </a:pPr>
            <a:r>
              <a:t>项目背景、核心价值、技术栈选型、系统整体架构</a:t>
            </a:r>
          </a:p>
        </p:txBody>
      </p:sp>
      <p:sp>
        <p:nvSpPr>
          <p:cNvPr id="9" name="Rounded Rectangle 8"/>
          <p:cNvSpPr/>
          <p:nvPr/>
        </p:nvSpPr>
        <p:spPr>
          <a:xfrm>
            <a:off x="6217920" y="1371600"/>
            <a:ext cx="548640" cy="457200"/>
          </a:xfrm>
          <a:prstGeom prst="round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02</a:t>
            </a:r>
          </a:p>
        </p:txBody>
      </p:sp>
      <p:sp>
        <p:nvSpPr>
          <p:cNvPr id="10" name="TextBox 9"/>
          <p:cNvSpPr txBox="1"/>
          <p:nvPr/>
        </p:nvSpPr>
        <p:spPr>
          <a:xfrm>
            <a:off x="6949440" y="1371600"/>
            <a:ext cx="4114800" cy="320040"/>
          </a:xfrm>
          <a:prstGeom prst="rect">
            <a:avLst/>
          </a:prstGeom>
          <a:noFill/>
        </p:spPr>
        <p:txBody>
          <a:bodyPr wrap="none">
            <a:spAutoFit/>
          </a:bodyPr>
          <a:lstStyle/>
          <a:p>
            <a:pPr>
              <a:defRPr sz="1600" b="1">
                <a:solidFill>
                  <a:srgbClr val="1F2937"/>
                </a:solidFill>
                <a:latin typeface="Microsoft YaHei"/>
              </a:defRPr>
            </a:pPr>
            <a:r>
              <a:t>计划管理模块</a:t>
            </a:r>
          </a:p>
        </p:txBody>
      </p:sp>
      <p:sp>
        <p:nvSpPr>
          <p:cNvPr id="11" name="TextBox 10"/>
          <p:cNvSpPr txBox="1"/>
          <p:nvPr/>
        </p:nvSpPr>
        <p:spPr>
          <a:xfrm>
            <a:off x="6949440" y="1691640"/>
            <a:ext cx="4114800" cy="457200"/>
          </a:xfrm>
          <a:prstGeom prst="rect">
            <a:avLst/>
          </a:prstGeom>
          <a:noFill/>
        </p:spPr>
        <p:txBody>
          <a:bodyPr wrap="square">
            <a:spAutoFit/>
          </a:bodyPr>
          <a:lstStyle/>
          <a:p>
            <a:pPr>
              <a:defRPr sz="1100">
                <a:solidFill>
                  <a:srgbClr val="6B7280"/>
                </a:solidFill>
                <a:latin typeface="Microsoft YaHei"/>
              </a:defRPr>
            </a:pPr>
            <a:r>
              <a:t>订单管理、生产计划、技术方案、采购计划</a:t>
            </a:r>
          </a:p>
        </p:txBody>
      </p:sp>
      <p:sp>
        <p:nvSpPr>
          <p:cNvPr id="12" name="Rounded Rectangle 11"/>
          <p:cNvSpPr/>
          <p:nvPr/>
        </p:nvSpPr>
        <p:spPr>
          <a:xfrm>
            <a:off x="457200" y="2651760"/>
            <a:ext cx="548640" cy="457200"/>
          </a:xfrm>
          <a:prstGeom prst="round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03</a:t>
            </a:r>
          </a:p>
        </p:txBody>
      </p:sp>
      <p:sp>
        <p:nvSpPr>
          <p:cNvPr id="13" name="TextBox 12"/>
          <p:cNvSpPr txBox="1"/>
          <p:nvPr/>
        </p:nvSpPr>
        <p:spPr>
          <a:xfrm>
            <a:off x="1188720" y="2651760"/>
            <a:ext cx="4114800" cy="320040"/>
          </a:xfrm>
          <a:prstGeom prst="rect">
            <a:avLst/>
          </a:prstGeom>
          <a:noFill/>
        </p:spPr>
        <p:txBody>
          <a:bodyPr wrap="none">
            <a:spAutoFit/>
          </a:bodyPr>
          <a:lstStyle/>
          <a:p>
            <a:pPr>
              <a:defRPr sz="1600" b="1">
                <a:solidFill>
                  <a:srgbClr val="1F2937"/>
                </a:solidFill>
                <a:latin typeface="Microsoft YaHei"/>
              </a:defRPr>
            </a:pPr>
            <a:r>
              <a:t>作物管理模块</a:t>
            </a:r>
          </a:p>
        </p:txBody>
      </p:sp>
      <p:sp>
        <p:nvSpPr>
          <p:cNvPr id="14" name="TextBox 13"/>
          <p:cNvSpPr txBox="1"/>
          <p:nvPr/>
        </p:nvSpPr>
        <p:spPr>
          <a:xfrm>
            <a:off x="1188720" y="2971800"/>
            <a:ext cx="4114800" cy="457200"/>
          </a:xfrm>
          <a:prstGeom prst="rect">
            <a:avLst/>
          </a:prstGeom>
          <a:noFill/>
        </p:spPr>
        <p:txBody>
          <a:bodyPr wrap="square">
            <a:spAutoFit/>
          </a:bodyPr>
          <a:lstStyle/>
          <a:p>
            <a:pPr>
              <a:defRPr sz="1100">
                <a:solidFill>
                  <a:srgbClr val="6B7280"/>
                </a:solidFill>
                <a:latin typeface="Microsoft YaHei"/>
              </a:defRPr>
            </a:pPr>
            <a:r>
              <a:t>种源、育苗、种植、采收、追溯、品种库</a:t>
            </a:r>
          </a:p>
        </p:txBody>
      </p:sp>
      <p:sp>
        <p:nvSpPr>
          <p:cNvPr id="15" name="Rounded Rectangle 14"/>
          <p:cNvSpPr/>
          <p:nvPr/>
        </p:nvSpPr>
        <p:spPr>
          <a:xfrm>
            <a:off x="6217920" y="2651760"/>
            <a:ext cx="548640" cy="457200"/>
          </a:xfrm>
          <a:prstGeom prst="round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04</a:t>
            </a:r>
          </a:p>
        </p:txBody>
      </p:sp>
      <p:sp>
        <p:nvSpPr>
          <p:cNvPr id="16" name="TextBox 15"/>
          <p:cNvSpPr txBox="1"/>
          <p:nvPr/>
        </p:nvSpPr>
        <p:spPr>
          <a:xfrm>
            <a:off x="6949440" y="2651760"/>
            <a:ext cx="4114800" cy="320040"/>
          </a:xfrm>
          <a:prstGeom prst="rect">
            <a:avLst/>
          </a:prstGeom>
          <a:noFill/>
        </p:spPr>
        <p:txBody>
          <a:bodyPr wrap="none">
            <a:spAutoFit/>
          </a:bodyPr>
          <a:lstStyle/>
          <a:p>
            <a:pPr>
              <a:defRPr sz="1600" b="1">
                <a:solidFill>
                  <a:srgbClr val="1F2937"/>
                </a:solidFill>
                <a:latin typeface="Microsoft YaHei"/>
              </a:defRPr>
            </a:pPr>
            <a:r>
              <a:t>农事管理模块</a:t>
            </a:r>
          </a:p>
        </p:txBody>
      </p:sp>
      <p:sp>
        <p:nvSpPr>
          <p:cNvPr id="17" name="TextBox 16"/>
          <p:cNvSpPr txBox="1"/>
          <p:nvPr/>
        </p:nvSpPr>
        <p:spPr>
          <a:xfrm>
            <a:off x="6949440" y="2971800"/>
            <a:ext cx="4114800" cy="457200"/>
          </a:xfrm>
          <a:prstGeom prst="rect">
            <a:avLst/>
          </a:prstGeom>
          <a:noFill/>
        </p:spPr>
        <p:txBody>
          <a:bodyPr wrap="square">
            <a:spAutoFit/>
          </a:bodyPr>
          <a:lstStyle/>
          <a:p>
            <a:pPr>
              <a:defRPr sz="1100">
                <a:solidFill>
                  <a:srgbClr val="6B7280"/>
                </a:solidFill>
                <a:latin typeface="Microsoft YaHei"/>
              </a:defRPr>
            </a:pPr>
            <a:r>
              <a:t>任务中心、任务派发、巡查、问题、智能规划</a:t>
            </a:r>
          </a:p>
        </p:txBody>
      </p:sp>
      <p:sp>
        <p:nvSpPr>
          <p:cNvPr id="18" name="Rounded Rectangle 17"/>
          <p:cNvSpPr/>
          <p:nvPr/>
        </p:nvSpPr>
        <p:spPr>
          <a:xfrm>
            <a:off x="457200" y="3931920"/>
            <a:ext cx="548640" cy="457200"/>
          </a:xfrm>
          <a:prstGeom prst="round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05</a:t>
            </a:r>
          </a:p>
        </p:txBody>
      </p:sp>
      <p:sp>
        <p:nvSpPr>
          <p:cNvPr id="19" name="TextBox 18"/>
          <p:cNvSpPr txBox="1"/>
          <p:nvPr/>
        </p:nvSpPr>
        <p:spPr>
          <a:xfrm>
            <a:off x="1188720" y="3931920"/>
            <a:ext cx="4114800" cy="320040"/>
          </a:xfrm>
          <a:prstGeom prst="rect">
            <a:avLst/>
          </a:prstGeom>
          <a:noFill/>
        </p:spPr>
        <p:txBody>
          <a:bodyPr wrap="none">
            <a:spAutoFit/>
          </a:bodyPr>
          <a:lstStyle/>
          <a:p>
            <a:pPr>
              <a:defRPr sz="1600" b="1">
                <a:solidFill>
                  <a:srgbClr val="1F2937"/>
                </a:solidFill>
                <a:latin typeface="Microsoft YaHei"/>
              </a:defRPr>
            </a:pPr>
            <a:r>
              <a:t>库存管理模块</a:t>
            </a:r>
          </a:p>
        </p:txBody>
      </p:sp>
      <p:sp>
        <p:nvSpPr>
          <p:cNvPr id="20" name="TextBox 19"/>
          <p:cNvSpPr txBox="1"/>
          <p:nvPr/>
        </p:nvSpPr>
        <p:spPr>
          <a:xfrm>
            <a:off x="1188720" y="4251960"/>
            <a:ext cx="4114800" cy="457200"/>
          </a:xfrm>
          <a:prstGeom prst="rect">
            <a:avLst/>
          </a:prstGeom>
          <a:noFill/>
        </p:spPr>
        <p:txBody>
          <a:bodyPr wrap="square">
            <a:spAutoFit/>
          </a:bodyPr>
          <a:lstStyle/>
          <a:p>
            <a:pPr>
              <a:defRPr sz="1100">
                <a:solidFill>
                  <a:srgbClr val="6B7280"/>
                </a:solidFill>
                <a:latin typeface="Microsoft YaHei"/>
              </a:defRPr>
            </a:pPr>
            <a:r>
              <a:t>仓库、物料入库、领料、退料、供应商、产品库存</a:t>
            </a:r>
          </a:p>
        </p:txBody>
      </p:sp>
      <p:sp>
        <p:nvSpPr>
          <p:cNvPr id="21" name="Rounded Rectangle 20"/>
          <p:cNvSpPr/>
          <p:nvPr/>
        </p:nvSpPr>
        <p:spPr>
          <a:xfrm>
            <a:off x="6217920" y="3931920"/>
            <a:ext cx="548640" cy="457200"/>
          </a:xfrm>
          <a:prstGeom prst="round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06</a:t>
            </a:r>
          </a:p>
        </p:txBody>
      </p:sp>
      <p:sp>
        <p:nvSpPr>
          <p:cNvPr id="22" name="TextBox 21"/>
          <p:cNvSpPr txBox="1"/>
          <p:nvPr/>
        </p:nvSpPr>
        <p:spPr>
          <a:xfrm>
            <a:off x="6949440" y="3931920"/>
            <a:ext cx="4114800" cy="320040"/>
          </a:xfrm>
          <a:prstGeom prst="rect">
            <a:avLst/>
          </a:prstGeom>
          <a:noFill/>
        </p:spPr>
        <p:txBody>
          <a:bodyPr wrap="none">
            <a:spAutoFit/>
          </a:bodyPr>
          <a:lstStyle/>
          <a:p>
            <a:pPr>
              <a:defRPr sz="1600" b="1">
                <a:solidFill>
                  <a:srgbClr val="1F2937"/>
                </a:solidFill>
                <a:latin typeface="Microsoft YaHei"/>
              </a:defRPr>
            </a:pPr>
            <a:r>
              <a:t>人工管理模块</a:t>
            </a:r>
          </a:p>
        </p:txBody>
      </p:sp>
      <p:sp>
        <p:nvSpPr>
          <p:cNvPr id="23" name="TextBox 22"/>
          <p:cNvSpPr txBox="1"/>
          <p:nvPr/>
        </p:nvSpPr>
        <p:spPr>
          <a:xfrm>
            <a:off x="6949440" y="4251960"/>
            <a:ext cx="4114800" cy="457200"/>
          </a:xfrm>
          <a:prstGeom prst="rect">
            <a:avLst/>
          </a:prstGeom>
          <a:noFill/>
        </p:spPr>
        <p:txBody>
          <a:bodyPr wrap="square">
            <a:spAutoFit/>
          </a:bodyPr>
          <a:lstStyle/>
          <a:p>
            <a:pPr>
              <a:defRPr sz="1100">
                <a:solidFill>
                  <a:srgbClr val="6B7280"/>
                </a:solidFill>
                <a:latin typeface="Microsoft YaHei"/>
              </a:defRPr>
            </a:pPr>
            <a:r>
              <a:t>考勤、排班、请假、加班、人事、薪酬、绩效</a:t>
            </a:r>
          </a:p>
        </p:txBody>
      </p:sp>
      <p:sp>
        <p:nvSpPr>
          <p:cNvPr id="24" name="Rounded Rectangle 23"/>
          <p:cNvSpPr/>
          <p:nvPr/>
        </p:nvSpPr>
        <p:spPr>
          <a:xfrm>
            <a:off x="457200" y="5212079"/>
            <a:ext cx="548640" cy="457200"/>
          </a:xfrm>
          <a:prstGeom prst="round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07</a:t>
            </a:r>
          </a:p>
        </p:txBody>
      </p:sp>
      <p:sp>
        <p:nvSpPr>
          <p:cNvPr id="25" name="TextBox 24"/>
          <p:cNvSpPr txBox="1"/>
          <p:nvPr/>
        </p:nvSpPr>
        <p:spPr>
          <a:xfrm>
            <a:off x="1188720" y="5212079"/>
            <a:ext cx="4114800" cy="320040"/>
          </a:xfrm>
          <a:prstGeom prst="rect">
            <a:avLst/>
          </a:prstGeom>
          <a:noFill/>
        </p:spPr>
        <p:txBody>
          <a:bodyPr wrap="none">
            <a:spAutoFit/>
          </a:bodyPr>
          <a:lstStyle/>
          <a:p>
            <a:pPr>
              <a:defRPr sz="1600" b="1">
                <a:solidFill>
                  <a:srgbClr val="1F2937"/>
                </a:solidFill>
                <a:latin typeface="Microsoft YaHei"/>
              </a:defRPr>
            </a:pPr>
            <a:r>
              <a:t>审批中心模块</a:t>
            </a:r>
          </a:p>
        </p:txBody>
      </p:sp>
      <p:sp>
        <p:nvSpPr>
          <p:cNvPr id="26" name="TextBox 25"/>
          <p:cNvSpPr txBox="1"/>
          <p:nvPr/>
        </p:nvSpPr>
        <p:spPr>
          <a:xfrm>
            <a:off x="1188720" y="5532119"/>
            <a:ext cx="4114800" cy="457200"/>
          </a:xfrm>
          <a:prstGeom prst="rect">
            <a:avLst/>
          </a:prstGeom>
          <a:noFill/>
        </p:spPr>
        <p:txBody>
          <a:bodyPr wrap="square">
            <a:spAutoFit/>
          </a:bodyPr>
          <a:lstStyle/>
          <a:p>
            <a:pPr>
              <a:defRPr sz="1100">
                <a:solidFill>
                  <a:srgbClr val="6B7280"/>
                </a:solidFill>
                <a:latin typeface="Microsoft YaHei"/>
              </a:defRPr>
            </a:pPr>
            <a:r>
              <a:t>审批仪表盘、待办/已办、业务/生产/农事/HR审批</a:t>
            </a:r>
          </a:p>
        </p:txBody>
      </p:sp>
      <p:sp>
        <p:nvSpPr>
          <p:cNvPr id="27" name="Rounded Rectangle 26"/>
          <p:cNvSpPr/>
          <p:nvPr/>
        </p:nvSpPr>
        <p:spPr>
          <a:xfrm>
            <a:off x="6217920" y="5212079"/>
            <a:ext cx="548640" cy="457200"/>
          </a:xfrm>
          <a:prstGeom prst="round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08</a:t>
            </a:r>
          </a:p>
        </p:txBody>
      </p:sp>
      <p:sp>
        <p:nvSpPr>
          <p:cNvPr id="28" name="TextBox 27"/>
          <p:cNvSpPr txBox="1"/>
          <p:nvPr/>
        </p:nvSpPr>
        <p:spPr>
          <a:xfrm>
            <a:off x="6949440" y="5212079"/>
            <a:ext cx="4114800" cy="320040"/>
          </a:xfrm>
          <a:prstGeom prst="rect">
            <a:avLst/>
          </a:prstGeom>
          <a:noFill/>
        </p:spPr>
        <p:txBody>
          <a:bodyPr wrap="none">
            <a:spAutoFit/>
          </a:bodyPr>
          <a:lstStyle/>
          <a:p>
            <a:pPr>
              <a:defRPr sz="1600" b="1">
                <a:solidFill>
                  <a:srgbClr val="1F2937"/>
                </a:solidFill>
                <a:latin typeface="Microsoft YaHei"/>
              </a:defRPr>
            </a:pPr>
            <a:r>
              <a:t>系统设置模块</a:t>
            </a:r>
          </a:p>
        </p:txBody>
      </p:sp>
      <p:sp>
        <p:nvSpPr>
          <p:cNvPr id="29" name="TextBox 28"/>
          <p:cNvSpPr txBox="1"/>
          <p:nvPr/>
        </p:nvSpPr>
        <p:spPr>
          <a:xfrm>
            <a:off x="6949440" y="5532119"/>
            <a:ext cx="4114800" cy="457200"/>
          </a:xfrm>
          <a:prstGeom prst="rect">
            <a:avLst/>
          </a:prstGeom>
          <a:noFill/>
        </p:spPr>
        <p:txBody>
          <a:bodyPr wrap="square">
            <a:spAutoFit/>
          </a:bodyPr>
          <a:lstStyle/>
          <a:p>
            <a:pPr>
              <a:defRPr sz="1100">
                <a:solidFill>
                  <a:srgbClr val="6B7280"/>
                </a:solidFill>
                <a:latin typeface="Microsoft YaHei"/>
              </a:defRPr>
            </a:pPr>
            <a:r>
              <a:t>用户权限、数据字典、基地、流程配置、日志</a:t>
            </a:r>
          </a:p>
        </p:txBody>
      </p:sp>
      <p:sp>
        <p:nvSpPr>
          <p:cNvPr id="30" name="Rounded Rectangle 29"/>
          <p:cNvSpPr/>
          <p:nvPr/>
        </p:nvSpPr>
        <p:spPr>
          <a:xfrm>
            <a:off x="457200" y="6492240"/>
            <a:ext cx="548640" cy="457200"/>
          </a:xfrm>
          <a:prstGeom prst="round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icrosoft YaHei"/>
              </a:defRPr>
            </a:pPr>
            <a:r>
              <a:t>09</a:t>
            </a:r>
          </a:p>
        </p:txBody>
      </p:sp>
      <p:sp>
        <p:nvSpPr>
          <p:cNvPr id="31" name="TextBox 30"/>
          <p:cNvSpPr txBox="1"/>
          <p:nvPr/>
        </p:nvSpPr>
        <p:spPr>
          <a:xfrm>
            <a:off x="1188720" y="6492240"/>
            <a:ext cx="4114800" cy="320040"/>
          </a:xfrm>
          <a:prstGeom prst="rect">
            <a:avLst/>
          </a:prstGeom>
          <a:noFill/>
        </p:spPr>
        <p:txBody>
          <a:bodyPr wrap="none">
            <a:spAutoFit/>
          </a:bodyPr>
          <a:lstStyle/>
          <a:p>
            <a:pPr>
              <a:defRPr sz="1600" b="1">
                <a:solidFill>
                  <a:srgbClr val="1F2937"/>
                </a:solidFill>
                <a:latin typeface="Microsoft YaHei"/>
              </a:defRPr>
            </a:pPr>
            <a:r>
              <a:t>数据架构与业务流程</a:t>
            </a:r>
          </a:p>
        </p:txBody>
      </p:sp>
      <p:sp>
        <p:nvSpPr>
          <p:cNvPr id="32" name="TextBox 31"/>
          <p:cNvSpPr txBox="1"/>
          <p:nvPr/>
        </p:nvSpPr>
        <p:spPr>
          <a:xfrm>
            <a:off x="1188720" y="6812280"/>
            <a:ext cx="4114800" cy="457200"/>
          </a:xfrm>
          <a:prstGeom prst="rect">
            <a:avLst/>
          </a:prstGeom>
          <a:noFill/>
        </p:spPr>
        <p:txBody>
          <a:bodyPr wrap="square">
            <a:spAutoFit/>
          </a:bodyPr>
          <a:lstStyle/>
          <a:p>
            <a:pPr>
              <a:defRPr sz="1100">
                <a:solidFill>
                  <a:srgbClr val="6B7280"/>
                </a:solidFill>
                <a:latin typeface="Microsoft YaHei"/>
              </a:defRPr>
            </a:pPr>
            <a:r>
              <a:t>数据库设计、核心表结构、数据流、审批流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系统概述</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SYSTEM OVERVIEW  |  基于源码提取的项目背景与核心价值</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5486400" cy="2286000"/>
          </a:xfrm>
          <a:prstGeom prst="rect">
            <a:avLst/>
          </a:prstGeom>
          <a:noFill/>
        </p:spPr>
        <p:txBody>
          <a:bodyPr wrap="square">
            <a:spAutoFit/>
          </a:bodyPr>
          <a:lstStyle/>
          <a:p>
            <a:pPr>
              <a:lnSpc>
                <a:spcPct val="150000"/>
              </a:lnSpc>
              <a:defRPr sz="1200">
                <a:solidFill>
                  <a:srgbClr val="1F2937"/>
                </a:solidFill>
                <a:latin typeface="Microsoft YaHei"/>
              </a:defRPr>
            </a:pPr>
            <a:r>
              <a:t>弘智耘智慧农业管理系统是面向现代化农业生产基地的数字化管理平台。系统覆盖从作物品种定义、种源采购、育苗定植、农事执行、采收入库到成本核算的完整业务流程，同时集成人工管理、库存管理、审批中心、数据分析等支撑模块。</a:t>
            </a:r>
            <a:br/>
            <a:br/>
            <a:r>
              <a:t>系统采用前后端分离架构，前端使用React 18 + TypeScript + Vite，后端使用Express + SQLite，通过RESTful API进行数据交互，JWT认证保障安全。</a:t>
            </a:r>
          </a:p>
        </p:txBody>
      </p:sp>
      <p:graphicFrame>
        <p:nvGraphicFramePr>
          <p:cNvPr id="7" name="Table 6"/>
          <p:cNvGraphicFramePr>
            <a:graphicFrameLocks noGrp="1"/>
          </p:cNvGraphicFramePr>
          <p:nvPr/>
        </p:nvGraphicFramePr>
        <p:xfrm>
          <a:off x="457200" y="3840480"/>
          <a:ext cx="5486400" cy="2560320"/>
        </p:xfrm>
        <a:graphic>
          <a:graphicData uri="http://schemas.openxmlformats.org/drawingml/2006/table">
            <a:tbl>
              <a:tblPr firstRow="1" bandRow="1">
                <a:tableStyleId>{5C22544A-7EE6-4342-B048-85BDC9FD1C3A}</a:tableStyleId>
              </a:tblPr>
              <a:tblGrid>
                <a:gridCol w="2743200"/>
                <a:gridCol w="2743200"/>
              </a:tblGrid>
              <a:tr h="426720">
                <a:tc>
                  <a:txBody>
                    <a:bodyPr/>
                    <a:lstStyle/>
                    <a:p>
                      <a:r>
                        <a:t>核心能力</a:t>
                      </a:r>
                    </a:p>
                  </a:txBody>
                  <a:tcPr>
                    <a:solidFill>
                      <a:srgbClr val="1A565E"/>
                    </a:solidFill>
                  </a:tcPr>
                </a:tc>
                <a:tc>
                  <a:txBody>
                    <a:bodyPr/>
                    <a:lstStyle/>
                    <a:p>
                      <a:r>
                        <a:t>说明</a:t>
                      </a:r>
                    </a:p>
                  </a:txBody>
                  <a:tcPr>
                    <a:solidFill>
                      <a:srgbClr val="1A565E"/>
                    </a:solidFill>
                  </a:tcPr>
                </a:tc>
              </a:tr>
              <a:tr h="426720">
                <a:tc>
                  <a:txBody>
                    <a:bodyPr/>
                    <a:lstStyle/>
                    <a:p>
                      <a:r>
                        <a:t>前端页面规模</a:t>
                      </a:r>
                    </a:p>
                  </a:txBody>
                  <a:tcPr>
                    <a:solidFill>
                      <a:srgbClr val="FFFFFF"/>
                    </a:solidFill>
                  </a:tcPr>
                </a:tc>
                <a:tc>
                  <a:txBody>
                    <a:bodyPr/>
                    <a:lstStyle/>
                    <a:p>
                      <a:r>
                        <a:t>80+页面，含同步加载和懒加载</a:t>
                      </a:r>
                    </a:p>
                  </a:txBody>
                  <a:tcPr>
                    <a:solidFill>
                      <a:srgbClr val="FFFFFF"/>
                    </a:solidFill>
                  </a:tcPr>
                </a:tc>
              </a:tr>
              <a:tr h="426720">
                <a:tc>
                  <a:txBody>
                    <a:bodyPr/>
                    <a:lstStyle/>
                    <a:p>
                      <a:r>
                        <a:t>后端API规模</a:t>
                      </a:r>
                    </a:p>
                  </a:txBody>
                  <a:tcPr>
                    <a:solidFill>
                      <a:srgbClr val="F3F4F6"/>
                    </a:solidFill>
                  </a:tcPr>
                </a:tc>
                <a:tc>
                  <a:txBody>
                    <a:bodyPr/>
                    <a:lstStyle/>
                    <a:p>
                      <a:r>
                        <a:t>40+路由，完整CRUD及业务逻辑</a:t>
                      </a:r>
                    </a:p>
                  </a:txBody>
                  <a:tcPr>
                    <a:solidFill>
                      <a:srgbClr val="F3F4F6"/>
                    </a:solidFill>
                  </a:tcPr>
                </a:tc>
              </a:tr>
              <a:tr h="426720">
                <a:tc>
                  <a:txBody>
                    <a:bodyPr/>
                    <a:lstStyle/>
                    <a:p>
                      <a:r>
                        <a:t>数据库规模</a:t>
                      </a:r>
                    </a:p>
                  </a:txBody>
                  <a:tcPr>
                    <a:solidFill>
                      <a:srgbClr val="FFFFFF"/>
                    </a:solidFill>
                  </a:tcPr>
                </a:tc>
                <a:tc>
                  <a:txBody>
                    <a:bodyPr/>
                    <a:lstStyle/>
                    <a:p>
                      <a:r>
                        <a:t>50+张表，覆盖全部核心业务</a:t>
                      </a:r>
                    </a:p>
                  </a:txBody>
                  <a:tcPr>
                    <a:solidFill>
                      <a:srgbClr val="FFFFFF"/>
                    </a:solidFill>
                  </a:tcPr>
                </a:tc>
              </a:tr>
              <a:tr h="426720">
                <a:tc>
                  <a:txBody>
                    <a:bodyPr/>
                    <a:lstStyle/>
                    <a:p>
                      <a:r>
                        <a:t>布局类型</a:t>
                      </a:r>
                    </a:p>
                  </a:txBody>
                  <a:tcPr>
                    <a:solidFill>
                      <a:srgbClr val="F3F4F6"/>
                    </a:solidFill>
                  </a:tcPr>
                </a:tc>
                <a:tc>
                  <a:txBody>
                    <a:bodyPr/>
                    <a:lstStyle/>
                    <a:p>
                      <a:r>
                        <a:t>独立页面 / SimpleLayout(设置) / MainLayout</a:t>
                      </a:r>
                    </a:p>
                  </a:txBody>
                  <a:tcPr>
                    <a:solidFill>
                      <a:srgbClr val="F3F4F6"/>
                    </a:solidFill>
                  </a:tcPr>
                </a:tc>
              </a:tr>
              <a:tr h="426720">
                <a:tc>
                  <a:txBody>
                    <a:bodyPr/>
                    <a:lstStyle/>
                    <a:p>
                      <a:r>
                        <a:t>菜单结构</a:t>
                      </a:r>
                    </a:p>
                  </a:txBody>
                  <a:tcPr>
                    <a:solidFill>
                      <a:srgbClr val="FFFFFF"/>
                    </a:solidFill>
                  </a:tcPr>
                </a:tc>
                <a:tc>
                  <a:txBody>
                    <a:bodyPr/>
                    <a:lstStyle/>
                    <a:p>
                      <a:r>
                        <a:t>11个一级菜单，7个可展开含子菜单</a:t>
                      </a:r>
                    </a:p>
                  </a:txBody>
                  <a:tcPr>
                    <a:solidFill>
                      <a:srgbClr val="FFFFFF"/>
                    </a:solidFill>
                  </a:tcPr>
                </a:tc>
              </a:tr>
            </a:tbl>
          </a:graphicData>
        </a:graphic>
      </p:graphicFrame>
      <p:sp>
        <p:nvSpPr>
          <p:cNvPr id="8" name="TextBox 7"/>
          <p:cNvSpPr txBox="1"/>
          <p:nvPr/>
        </p:nvSpPr>
        <p:spPr>
          <a:xfrm>
            <a:off x="6400800" y="1371600"/>
            <a:ext cx="5303520" cy="365760"/>
          </a:xfrm>
          <a:prstGeom prst="rect">
            <a:avLst/>
          </a:prstGeom>
          <a:noFill/>
        </p:spPr>
        <p:txBody>
          <a:bodyPr wrap="none">
            <a:spAutoFit/>
          </a:bodyPr>
          <a:lstStyle/>
          <a:p>
            <a:pPr>
              <a:defRPr sz="1600" b="1">
                <a:solidFill>
                  <a:srgbClr val="1A565E"/>
                </a:solidFill>
                <a:latin typeface="Microsoft YaHei"/>
              </a:defRPr>
            </a:pPr>
            <a:r>
              <a:t>系统关键指标（从代码统计）</a:t>
            </a:r>
          </a:p>
        </p:txBody>
      </p:sp>
      <p:sp>
        <p:nvSpPr>
          <p:cNvPr id="9" name="Rounded Rectangle 8"/>
          <p:cNvSpPr/>
          <p:nvPr/>
        </p:nvSpPr>
        <p:spPr>
          <a:xfrm>
            <a:off x="6400800" y="1828800"/>
            <a:ext cx="2468880" cy="1280160"/>
          </a:xfrm>
          <a:prstGeom prst="roundRect">
            <a:avLst/>
          </a:prstGeom>
          <a:solidFill>
            <a:srgbClr val="F3F4F6"/>
          </a:solidFill>
          <a:ln>
            <a:solidFill>
              <a:srgbClr val="2D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65960"/>
            <a:ext cx="2468880" cy="457200"/>
          </a:xfrm>
          <a:prstGeom prst="rect">
            <a:avLst/>
          </a:prstGeom>
          <a:noFill/>
        </p:spPr>
        <p:txBody>
          <a:bodyPr wrap="none">
            <a:spAutoFit/>
          </a:bodyPr>
          <a:lstStyle/>
          <a:p>
            <a:pPr algn="ctr">
              <a:defRPr sz="2800" b="1">
                <a:solidFill>
                  <a:srgbClr val="1A565E"/>
                </a:solidFill>
                <a:latin typeface="Microsoft YaHei"/>
              </a:defRPr>
            </a:pPr>
            <a:r>
              <a:t>50+</a:t>
            </a:r>
          </a:p>
        </p:txBody>
      </p:sp>
      <p:sp>
        <p:nvSpPr>
          <p:cNvPr id="11" name="TextBox 10"/>
          <p:cNvSpPr txBox="1"/>
          <p:nvPr/>
        </p:nvSpPr>
        <p:spPr>
          <a:xfrm>
            <a:off x="6400800" y="2377440"/>
            <a:ext cx="2468880" cy="274320"/>
          </a:xfrm>
          <a:prstGeom prst="rect">
            <a:avLst/>
          </a:prstGeom>
          <a:noFill/>
        </p:spPr>
        <p:txBody>
          <a:bodyPr wrap="none">
            <a:spAutoFit/>
          </a:bodyPr>
          <a:lstStyle/>
          <a:p>
            <a:pPr algn="ctr">
              <a:defRPr sz="1200" b="1">
                <a:solidFill>
                  <a:srgbClr val="1F2937"/>
                </a:solidFill>
                <a:latin typeface="Microsoft YaHei"/>
              </a:defRPr>
            </a:pPr>
            <a:r>
              <a:t>数据库表</a:t>
            </a:r>
          </a:p>
        </p:txBody>
      </p:sp>
      <p:sp>
        <p:nvSpPr>
          <p:cNvPr id="12" name="TextBox 11"/>
          <p:cNvSpPr txBox="1"/>
          <p:nvPr/>
        </p:nvSpPr>
        <p:spPr>
          <a:xfrm>
            <a:off x="6492240" y="2651760"/>
            <a:ext cx="2286000" cy="365760"/>
          </a:xfrm>
          <a:prstGeom prst="rect">
            <a:avLst/>
          </a:prstGeom>
          <a:noFill/>
        </p:spPr>
        <p:txBody>
          <a:bodyPr wrap="square">
            <a:spAutoFit/>
          </a:bodyPr>
          <a:lstStyle/>
          <a:p>
            <a:pPr algn="ctr">
              <a:defRPr sz="900">
                <a:solidFill>
                  <a:srgbClr val="6B7280"/>
                </a:solidFill>
                <a:latin typeface="Microsoft YaHei"/>
              </a:defRPr>
            </a:pPr>
            <a:r>
              <a:t>覆盖全部核心业务领域</a:t>
            </a:r>
          </a:p>
        </p:txBody>
      </p:sp>
      <p:sp>
        <p:nvSpPr>
          <p:cNvPr id="13" name="Rounded Rectangle 12"/>
          <p:cNvSpPr/>
          <p:nvPr/>
        </p:nvSpPr>
        <p:spPr>
          <a:xfrm>
            <a:off x="9052560" y="1828800"/>
            <a:ext cx="2468880" cy="1280160"/>
          </a:xfrm>
          <a:prstGeom prst="roundRect">
            <a:avLst/>
          </a:prstGeom>
          <a:solidFill>
            <a:srgbClr val="F3F4F6"/>
          </a:solidFill>
          <a:ln>
            <a:solidFill>
              <a:srgbClr val="2D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0" y="1965960"/>
            <a:ext cx="2468880" cy="457200"/>
          </a:xfrm>
          <a:prstGeom prst="rect">
            <a:avLst/>
          </a:prstGeom>
          <a:noFill/>
        </p:spPr>
        <p:txBody>
          <a:bodyPr wrap="none">
            <a:spAutoFit/>
          </a:bodyPr>
          <a:lstStyle/>
          <a:p>
            <a:pPr algn="ctr">
              <a:defRPr sz="2800" b="1">
                <a:solidFill>
                  <a:srgbClr val="1A565E"/>
                </a:solidFill>
                <a:latin typeface="Microsoft YaHei"/>
              </a:defRPr>
            </a:pPr>
            <a:r>
              <a:t>40+</a:t>
            </a:r>
          </a:p>
        </p:txBody>
      </p:sp>
      <p:sp>
        <p:nvSpPr>
          <p:cNvPr id="15" name="TextBox 14"/>
          <p:cNvSpPr txBox="1"/>
          <p:nvPr/>
        </p:nvSpPr>
        <p:spPr>
          <a:xfrm>
            <a:off x="9052560" y="2377440"/>
            <a:ext cx="2468880" cy="274320"/>
          </a:xfrm>
          <a:prstGeom prst="rect">
            <a:avLst/>
          </a:prstGeom>
          <a:noFill/>
        </p:spPr>
        <p:txBody>
          <a:bodyPr wrap="none">
            <a:spAutoFit/>
          </a:bodyPr>
          <a:lstStyle/>
          <a:p>
            <a:pPr algn="ctr">
              <a:defRPr sz="1200" b="1">
                <a:solidFill>
                  <a:srgbClr val="1F2937"/>
                </a:solidFill>
                <a:latin typeface="Microsoft YaHei"/>
              </a:defRPr>
            </a:pPr>
            <a:r>
              <a:t>API路由</a:t>
            </a:r>
          </a:p>
        </p:txBody>
      </p:sp>
      <p:sp>
        <p:nvSpPr>
          <p:cNvPr id="16" name="TextBox 15"/>
          <p:cNvSpPr txBox="1"/>
          <p:nvPr/>
        </p:nvSpPr>
        <p:spPr>
          <a:xfrm>
            <a:off x="9144000" y="2651760"/>
            <a:ext cx="2286000" cy="365760"/>
          </a:xfrm>
          <a:prstGeom prst="rect">
            <a:avLst/>
          </a:prstGeom>
          <a:noFill/>
        </p:spPr>
        <p:txBody>
          <a:bodyPr wrap="square">
            <a:spAutoFit/>
          </a:bodyPr>
          <a:lstStyle/>
          <a:p>
            <a:pPr algn="ctr">
              <a:defRPr sz="900">
                <a:solidFill>
                  <a:srgbClr val="6B7280"/>
                </a:solidFill>
                <a:latin typeface="Microsoft YaHei"/>
              </a:defRPr>
            </a:pPr>
            <a:r>
              <a:t>完整CRUD及业务逻辑接口</a:t>
            </a:r>
          </a:p>
        </p:txBody>
      </p:sp>
      <p:sp>
        <p:nvSpPr>
          <p:cNvPr id="17" name="Rounded Rectangle 16"/>
          <p:cNvSpPr/>
          <p:nvPr/>
        </p:nvSpPr>
        <p:spPr>
          <a:xfrm>
            <a:off x="6400800" y="3291840"/>
            <a:ext cx="2468880" cy="1280160"/>
          </a:xfrm>
          <a:prstGeom prst="roundRect">
            <a:avLst/>
          </a:prstGeom>
          <a:solidFill>
            <a:srgbClr val="F3F4F6"/>
          </a:solidFill>
          <a:ln>
            <a:solidFill>
              <a:srgbClr val="2D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429000"/>
            <a:ext cx="2468880" cy="457200"/>
          </a:xfrm>
          <a:prstGeom prst="rect">
            <a:avLst/>
          </a:prstGeom>
          <a:noFill/>
        </p:spPr>
        <p:txBody>
          <a:bodyPr wrap="none">
            <a:spAutoFit/>
          </a:bodyPr>
          <a:lstStyle/>
          <a:p>
            <a:pPr algn="ctr">
              <a:defRPr sz="2800" b="1">
                <a:solidFill>
                  <a:srgbClr val="1A565E"/>
                </a:solidFill>
                <a:latin typeface="Microsoft YaHei"/>
              </a:defRPr>
            </a:pPr>
            <a:r>
              <a:t>80+</a:t>
            </a:r>
          </a:p>
        </p:txBody>
      </p:sp>
      <p:sp>
        <p:nvSpPr>
          <p:cNvPr id="19" name="TextBox 18"/>
          <p:cNvSpPr txBox="1"/>
          <p:nvPr/>
        </p:nvSpPr>
        <p:spPr>
          <a:xfrm>
            <a:off x="6400800" y="3840480"/>
            <a:ext cx="2468880" cy="274320"/>
          </a:xfrm>
          <a:prstGeom prst="rect">
            <a:avLst/>
          </a:prstGeom>
          <a:noFill/>
        </p:spPr>
        <p:txBody>
          <a:bodyPr wrap="none">
            <a:spAutoFit/>
          </a:bodyPr>
          <a:lstStyle/>
          <a:p>
            <a:pPr algn="ctr">
              <a:defRPr sz="1200" b="1">
                <a:solidFill>
                  <a:srgbClr val="1F2937"/>
                </a:solidFill>
                <a:latin typeface="Microsoft YaHei"/>
              </a:defRPr>
            </a:pPr>
            <a:r>
              <a:t>前端页面</a:t>
            </a:r>
          </a:p>
        </p:txBody>
      </p:sp>
      <p:sp>
        <p:nvSpPr>
          <p:cNvPr id="20" name="TextBox 19"/>
          <p:cNvSpPr txBox="1"/>
          <p:nvPr/>
        </p:nvSpPr>
        <p:spPr>
          <a:xfrm>
            <a:off x="6492240" y="4114800"/>
            <a:ext cx="2286000" cy="365760"/>
          </a:xfrm>
          <a:prstGeom prst="rect">
            <a:avLst/>
          </a:prstGeom>
          <a:noFill/>
        </p:spPr>
        <p:txBody>
          <a:bodyPr wrap="square">
            <a:spAutoFit/>
          </a:bodyPr>
          <a:lstStyle/>
          <a:p>
            <a:pPr algn="ctr">
              <a:defRPr sz="900">
                <a:solidFill>
                  <a:srgbClr val="6B7280"/>
                </a:solidFill>
                <a:latin typeface="Microsoft YaHei"/>
              </a:defRPr>
            </a:pPr>
            <a:r>
              <a:t>模块化设计，功能完整覆盖</a:t>
            </a:r>
          </a:p>
        </p:txBody>
      </p:sp>
      <p:sp>
        <p:nvSpPr>
          <p:cNvPr id="21" name="Rounded Rectangle 20"/>
          <p:cNvSpPr/>
          <p:nvPr/>
        </p:nvSpPr>
        <p:spPr>
          <a:xfrm>
            <a:off x="9052560" y="3291840"/>
            <a:ext cx="2468880" cy="1280160"/>
          </a:xfrm>
          <a:prstGeom prst="roundRect">
            <a:avLst/>
          </a:prstGeom>
          <a:solidFill>
            <a:srgbClr val="F3F4F6"/>
          </a:solidFill>
          <a:ln>
            <a:solidFill>
              <a:srgbClr val="2D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0" y="3429000"/>
            <a:ext cx="2468880" cy="457200"/>
          </a:xfrm>
          <a:prstGeom prst="rect">
            <a:avLst/>
          </a:prstGeom>
          <a:noFill/>
        </p:spPr>
        <p:txBody>
          <a:bodyPr wrap="none">
            <a:spAutoFit/>
          </a:bodyPr>
          <a:lstStyle/>
          <a:p>
            <a:pPr algn="ctr">
              <a:defRPr sz="2800" b="1">
                <a:solidFill>
                  <a:srgbClr val="1A565E"/>
                </a:solidFill>
                <a:latin typeface="Microsoft YaHei"/>
              </a:defRPr>
            </a:pPr>
            <a:r>
              <a:t>3</a:t>
            </a:r>
          </a:p>
        </p:txBody>
      </p:sp>
      <p:sp>
        <p:nvSpPr>
          <p:cNvPr id="23" name="TextBox 22"/>
          <p:cNvSpPr txBox="1"/>
          <p:nvPr/>
        </p:nvSpPr>
        <p:spPr>
          <a:xfrm>
            <a:off x="9052560" y="3840480"/>
            <a:ext cx="2468880" cy="274320"/>
          </a:xfrm>
          <a:prstGeom prst="rect">
            <a:avLst/>
          </a:prstGeom>
          <a:noFill/>
        </p:spPr>
        <p:txBody>
          <a:bodyPr wrap="none">
            <a:spAutoFit/>
          </a:bodyPr>
          <a:lstStyle/>
          <a:p>
            <a:pPr algn="ctr">
              <a:defRPr sz="1200" b="1">
                <a:solidFill>
                  <a:srgbClr val="1F2937"/>
                </a:solidFill>
                <a:latin typeface="Microsoft YaHei"/>
              </a:defRPr>
            </a:pPr>
            <a:r>
              <a:t>布局类型</a:t>
            </a:r>
          </a:p>
        </p:txBody>
      </p:sp>
      <p:sp>
        <p:nvSpPr>
          <p:cNvPr id="24" name="TextBox 23"/>
          <p:cNvSpPr txBox="1"/>
          <p:nvPr/>
        </p:nvSpPr>
        <p:spPr>
          <a:xfrm>
            <a:off x="9144000" y="4114800"/>
            <a:ext cx="2286000" cy="365760"/>
          </a:xfrm>
          <a:prstGeom prst="rect">
            <a:avLst/>
          </a:prstGeom>
          <a:noFill/>
        </p:spPr>
        <p:txBody>
          <a:bodyPr wrap="square">
            <a:spAutoFit/>
          </a:bodyPr>
          <a:lstStyle/>
          <a:p>
            <a:pPr algn="ctr">
              <a:defRPr sz="900">
                <a:solidFill>
                  <a:srgbClr val="6B7280"/>
                </a:solidFill>
                <a:latin typeface="Microsoft YaHei"/>
              </a:defRPr>
            </a:pPr>
            <a:r>
              <a:t>独立页面 / SimpleLayout / MainLayout</a:t>
            </a:r>
          </a:p>
        </p:txBody>
      </p:sp>
      <p:sp>
        <p:nvSpPr>
          <p:cNvPr id="25" name="Rounded Rectangle 24"/>
          <p:cNvSpPr/>
          <p:nvPr/>
        </p:nvSpPr>
        <p:spPr>
          <a:xfrm>
            <a:off x="6400800" y="4754880"/>
            <a:ext cx="2468880" cy="1280160"/>
          </a:xfrm>
          <a:prstGeom prst="roundRect">
            <a:avLst/>
          </a:prstGeom>
          <a:solidFill>
            <a:srgbClr val="F3F4F6"/>
          </a:solidFill>
          <a:ln>
            <a:solidFill>
              <a:srgbClr val="2D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4892040"/>
            <a:ext cx="2468880" cy="457200"/>
          </a:xfrm>
          <a:prstGeom prst="rect">
            <a:avLst/>
          </a:prstGeom>
          <a:noFill/>
        </p:spPr>
        <p:txBody>
          <a:bodyPr wrap="none">
            <a:spAutoFit/>
          </a:bodyPr>
          <a:lstStyle/>
          <a:p>
            <a:pPr algn="ctr">
              <a:defRPr sz="2800" b="1">
                <a:solidFill>
                  <a:srgbClr val="1A565E"/>
                </a:solidFill>
                <a:latin typeface="Microsoft YaHei"/>
              </a:defRPr>
            </a:pPr>
            <a:r>
              <a:t>11</a:t>
            </a:r>
          </a:p>
        </p:txBody>
      </p:sp>
      <p:sp>
        <p:nvSpPr>
          <p:cNvPr id="27" name="TextBox 26"/>
          <p:cNvSpPr txBox="1"/>
          <p:nvPr/>
        </p:nvSpPr>
        <p:spPr>
          <a:xfrm>
            <a:off x="6400800" y="5303520"/>
            <a:ext cx="2468880" cy="274320"/>
          </a:xfrm>
          <a:prstGeom prst="rect">
            <a:avLst/>
          </a:prstGeom>
          <a:noFill/>
        </p:spPr>
        <p:txBody>
          <a:bodyPr wrap="none">
            <a:spAutoFit/>
          </a:bodyPr>
          <a:lstStyle/>
          <a:p>
            <a:pPr algn="ctr">
              <a:defRPr sz="1200" b="1">
                <a:solidFill>
                  <a:srgbClr val="1F2937"/>
                </a:solidFill>
                <a:latin typeface="Microsoft YaHei"/>
              </a:defRPr>
            </a:pPr>
            <a:r>
              <a:t>一级菜单</a:t>
            </a:r>
          </a:p>
        </p:txBody>
      </p:sp>
      <p:sp>
        <p:nvSpPr>
          <p:cNvPr id="28" name="TextBox 27"/>
          <p:cNvSpPr txBox="1"/>
          <p:nvPr/>
        </p:nvSpPr>
        <p:spPr>
          <a:xfrm>
            <a:off x="6492240" y="5577840"/>
            <a:ext cx="2286000" cy="365760"/>
          </a:xfrm>
          <a:prstGeom prst="rect">
            <a:avLst/>
          </a:prstGeom>
          <a:noFill/>
        </p:spPr>
        <p:txBody>
          <a:bodyPr wrap="square">
            <a:spAutoFit/>
          </a:bodyPr>
          <a:lstStyle/>
          <a:p>
            <a:pPr algn="ctr">
              <a:defRPr sz="900">
                <a:solidFill>
                  <a:srgbClr val="6B7280"/>
                </a:solidFill>
                <a:latin typeface="Microsoft YaHei"/>
              </a:defRPr>
            </a:pPr>
            <a:r>
              <a:t>7个可展开含子菜单</a:t>
            </a:r>
          </a:p>
        </p:txBody>
      </p:sp>
      <p:sp>
        <p:nvSpPr>
          <p:cNvPr id="29" name="Rounded Rectangle 28"/>
          <p:cNvSpPr/>
          <p:nvPr/>
        </p:nvSpPr>
        <p:spPr>
          <a:xfrm>
            <a:off x="9052560" y="4754880"/>
            <a:ext cx="2468880" cy="1280160"/>
          </a:xfrm>
          <a:prstGeom prst="roundRect">
            <a:avLst/>
          </a:prstGeom>
          <a:solidFill>
            <a:srgbClr val="F3F4F6"/>
          </a:solidFill>
          <a:ln>
            <a:solidFill>
              <a:srgbClr val="2D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52560" y="4892040"/>
            <a:ext cx="2468880" cy="457200"/>
          </a:xfrm>
          <a:prstGeom prst="rect">
            <a:avLst/>
          </a:prstGeom>
          <a:noFill/>
        </p:spPr>
        <p:txBody>
          <a:bodyPr wrap="none">
            <a:spAutoFit/>
          </a:bodyPr>
          <a:lstStyle/>
          <a:p>
            <a:pPr algn="ctr">
              <a:defRPr sz="2800" b="1">
                <a:solidFill>
                  <a:srgbClr val="1A565E"/>
                </a:solidFill>
                <a:latin typeface="Microsoft YaHei"/>
              </a:defRPr>
            </a:pPr>
            <a:r>
              <a:t>5</a:t>
            </a:r>
          </a:p>
        </p:txBody>
      </p:sp>
      <p:sp>
        <p:nvSpPr>
          <p:cNvPr id="31" name="TextBox 30"/>
          <p:cNvSpPr txBox="1"/>
          <p:nvPr/>
        </p:nvSpPr>
        <p:spPr>
          <a:xfrm>
            <a:off x="9052560" y="5303520"/>
            <a:ext cx="2468880" cy="274320"/>
          </a:xfrm>
          <a:prstGeom prst="rect">
            <a:avLst/>
          </a:prstGeom>
          <a:noFill/>
        </p:spPr>
        <p:txBody>
          <a:bodyPr wrap="none">
            <a:spAutoFit/>
          </a:bodyPr>
          <a:lstStyle/>
          <a:p>
            <a:pPr algn="ctr">
              <a:defRPr sz="1200" b="1">
                <a:solidFill>
                  <a:srgbClr val="1F2937"/>
                </a:solidFill>
                <a:latin typeface="Microsoft YaHei"/>
              </a:defRPr>
            </a:pPr>
            <a:r>
              <a:t>审批级别</a:t>
            </a:r>
          </a:p>
        </p:txBody>
      </p:sp>
      <p:sp>
        <p:nvSpPr>
          <p:cNvPr id="32" name="TextBox 31"/>
          <p:cNvSpPr txBox="1"/>
          <p:nvPr/>
        </p:nvSpPr>
        <p:spPr>
          <a:xfrm>
            <a:off x="9144000" y="5577840"/>
            <a:ext cx="2286000" cy="365760"/>
          </a:xfrm>
          <a:prstGeom prst="rect">
            <a:avLst/>
          </a:prstGeom>
          <a:noFill/>
        </p:spPr>
        <p:txBody>
          <a:bodyPr wrap="square">
            <a:spAutoFit/>
          </a:bodyPr>
          <a:lstStyle/>
          <a:p>
            <a:pPr algn="ctr">
              <a:defRPr sz="900">
                <a:solidFill>
                  <a:srgbClr val="6B7280"/>
                </a:solidFill>
                <a:latin typeface="Microsoft YaHei"/>
              </a:defRPr>
            </a:pPr>
            <a:r>
              <a:t>免审/快速/标准/严格/自定义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技术架构</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TECHNICAL ARCHITECTURE  |  基于App.tsx和路由代码提取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371600"/>
          <a:ext cx="11247120" cy="2926080"/>
        </p:xfrm>
        <a:graphic>
          <a:graphicData uri="http://schemas.openxmlformats.org/drawingml/2006/table">
            <a:tbl>
              <a:tblPr firstRow="1" bandRow="1">
                <a:tableStyleId>{5C22544A-7EE6-4342-B048-85BDC9FD1C3A}</a:tableStyleId>
              </a:tblPr>
              <a:tblGrid>
                <a:gridCol w="3749040"/>
                <a:gridCol w="3749040"/>
                <a:gridCol w="3749040"/>
              </a:tblGrid>
              <a:tr h="418011">
                <a:tc>
                  <a:txBody>
                    <a:bodyPr/>
                    <a:lstStyle/>
                    <a:p>
                      <a:r>
                        <a:t>层级</a:t>
                      </a:r>
                    </a:p>
                  </a:txBody>
                  <a:tcPr>
                    <a:solidFill>
                      <a:srgbClr val="1A565E"/>
                    </a:solidFill>
                  </a:tcPr>
                </a:tc>
                <a:tc>
                  <a:txBody>
                    <a:bodyPr/>
                    <a:lstStyle/>
                    <a:p>
                      <a:r>
                        <a:t>技术选型</a:t>
                      </a:r>
                    </a:p>
                  </a:txBody>
                  <a:tcPr>
                    <a:solidFill>
                      <a:srgbClr val="1A565E"/>
                    </a:solidFill>
                  </a:tcPr>
                </a:tc>
                <a:tc>
                  <a:txBody>
                    <a:bodyPr/>
                    <a:lstStyle/>
                    <a:p>
                      <a:r>
                        <a:t>源码证据</a:t>
                      </a:r>
                    </a:p>
                  </a:txBody>
                  <a:tcPr>
                    <a:solidFill>
                      <a:srgbClr val="1A565E"/>
                    </a:solidFill>
                  </a:tcPr>
                </a:tc>
              </a:tr>
              <a:tr h="418011">
                <a:tc>
                  <a:txBody>
                    <a:bodyPr/>
                    <a:lstStyle/>
                    <a:p>
                      <a:r>
                        <a:t>前端框架</a:t>
                      </a:r>
                    </a:p>
                  </a:txBody>
                  <a:tcPr>
                    <a:solidFill>
                      <a:srgbClr val="FFFFFF"/>
                    </a:solidFill>
                  </a:tcPr>
                </a:tc>
                <a:tc>
                  <a:txBody>
                    <a:bodyPr/>
                    <a:lstStyle/>
                    <a:p>
                      <a:r>
                        <a:t>React 18 + TypeScript + Vite</a:t>
                      </a:r>
                    </a:p>
                  </a:txBody>
                  <a:tcPr>
                    <a:solidFill>
                      <a:srgbClr val="FFFFFF"/>
                    </a:solidFill>
                  </a:tcPr>
                </a:tc>
                <a:tc>
                  <a:txBody>
                    <a:bodyPr/>
                    <a:lstStyle/>
                    <a:p>
                      <a:r>
                        <a:t>App.tsx: import { useState, useEffect, lazy, Suspense } from 'react'</a:t>
                      </a:r>
                    </a:p>
                  </a:txBody>
                  <a:tcPr>
                    <a:solidFill>
                      <a:srgbClr val="FFFFFF"/>
                    </a:solidFill>
                  </a:tcPr>
                </a:tc>
              </a:tr>
              <a:tr h="418011">
                <a:tc>
                  <a:txBody>
                    <a:bodyPr/>
                    <a:lstStyle/>
                    <a:p>
                      <a:r>
                        <a:t>UI组件库</a:t>
                      </a:r>
                    </a:p>
                  </a:txBody>
                  <a:tcPr>
                    <a:solidFill>
                      <a:srgbClr val="F3F4F6"/>
                    </a:solidFill>
                  </a:tcPr>
                </a:tc>
                <a:tc>
                  <a:txBody>
                    <a:bodyPr/>
                    <a:lstStyle/>
                    <a:p>
                      <a:r>
                        <a:t>Radix UI + Tailwind CSS</a:t>
                      </a:r>
                    </a:p>
                  </a:txBody>
                  <a:tcPr>
                    <a:solidFill>
                      <a:srgbClr val="F3F4F6"/>
                    </a:solidFill>
                  </a:tcPr>
                </a:tc>
                <a:tc>
                  <a:txBody>
                    <a:bodyPr/>
                    <a:lstStyle/>
                    <a:p>
                      <a:r>
                        <a:t>src/components/ui/ 下50+组件</a:t>
                      </a:r>
                    </a:p>
                  </a:txBody>
                  <a:tcPr>
                    <a:solidFill>
                      <a:srgbClr val="F3F4F6"/>
                    </a:solidFill>
                  </a:tcPr>
                </a:tc>
              </a:tr>
              <a:tr h="418011">
                <a:tc>
                  <a:txBody>
                    <a:bodyPr/>
                    <a:lstStyle/>
                    <a:p>
                      <a:r>
                        <a:t>状态管理</a:t>
                      </a:r>
                    </a:p>
                  </a:txBody>
                  <a:tcPr>
                    <a:solidFill>
                      <a:srgbClr val="FFFFFF"/>
                    </a:solidFill>
                  </a:tcPr>
                </a:tc>
                <a:tc>
                  <a:txBody>
                    <a:bodyPr/>
                    <a:lstStyle/>
                    <a:p>
                      <a:r>
                        <a:t>useState + Context + 自定义Hooks</a:t>
                      </a:r>
                    </a:p>
                  </a:txBody>
                  <a:tcPr>
                    <a:solidFill>
                      <a:srgbClr val="FFFFFF"/>
                    </a:solidFill>
                  </a:tcPr>
                </a:tc>
                <a:tc>
                  <a:txBody>
                    <a:bodyPr/>
                    <a:lstStyle/>
                    <a:p>
                      <a:r>
                        <a:t>各页面大量useState，useApproval/useTasks等Hook</a:t>
                      </a:r>
                    </a:p>
                  </a:txBody>
                  <a:tcPr>
                    <a:solidFill>
                      <a:srgbClr val="FFFFFF"/>
                    </a:solidFill>
                  </a:tcPr>
                </a:tc>
              </a:tr>
              <a:tr h="418011">
                <a:tc>
                  <a:txBody>
                    <a:bodyPr/>
                    <a:lstStyle/>
                    <a:p>
                      <a:r>
                        <a:t>后端框架</a:t>
                      </a:r>
                    </a:p>
                  </a:txBody>
                  <a:tcPr>
                    <a:solidFill>
                      <a:srgbClr val="F3F4F6"/>
                    </a:solidFill>
                  </a:tcPr>
                </a:tc>
                <a:tc>
                  <a:txBody>
                    <a:bodyPr/>
                    <a:lstStyle/>
                    <a:p>
                      <a:r>
                        <a:t>Express + TypeScript</a:t>
                      </a:r>
                    </a:p>
                  </a:txBody>
                  <a:tcPr>
                    <a:solidFill>
                      <a:srgbClr val="F3F4F6"/>
                    </a:solidFill>
                  </a:tcPr>
                </a:tc>
                <a:tc>
                  <a:txBody>
                    <a:bodyPr/>
                    <a:lstStyle/>
                    <a:p>
                      <a:r>
                        <a:t>server/src/index.ts Express实例</a:t>
                      </a:r>
                    </a:p>
                  </a:txBody>
                  <a:tcPr>
                    <a:solidFill>
                      <a:srgbClr val="F3F4F6"/>
                    </a:solidFill>
                  </a:tcPr>
                </a:tc>
              </a:tr>
              <a:tr h="418011">
                <a:tc>
                  <a:txBody>
                    <a:bodyPr/>
                    <a:lstStyle/>
                    <a:p>
                      <a:r>
                        <a:t>数据库</a:t>
                      </a:r>
                    </a:p>
                  </a:txBody>
                  <a:tcPr>
                    <a:solidFill>
                      <a:srgbClr val="FFFFFF"/>
                    </a:solidFill>
                  </a:tcPr>
                </a:tc>
                <a:tc>
                  <a:txBody>
                    <a:bodyPr/>
                    <a:lstStyle/>
                    <a:p>
                      <a:r>
                        <a:t>SQLite (sql.js)</a:t>
                      </a:r>
                    </a:p>
                  </a:txBody>
                  <a:tcPr>
                    <a:solidFill>
                      <a:srgbClr val="FFFFFF"/>
                    </a:solidFill>
                  </a:tcPr>
                </a:tc>
                <a:tc>
                  <a:txBody>
                    <a:bodyPr/>
                    <a:lstStyle/>
                    <a:p>
                      <a:r>
                        <a:t>server/src/db/schema.ts 50+表定义</a:t>
                      </a:r>
                    </a:p>
                  </a:txBody>
                  <a:tcPr>
                    <a:solidFill>
                      <a:srgbClr val="FFFFFF"/>
                    </a:solidFill>
                  </a:tcPr>
                </a:tc>
              </a:tr>
              <a:tr h="418014">
                <a:tc>
                  <a:txBody>
                    <a:bodyPr/>
                    <a:lstStyle/>
                    <a:p>
                      <a:r>
                        <a:t>认证方式</a:t>
                      </a:r>
                    </a:p>
                  </a:txBody>
                  <a:tcPr>
                    <a:solidFill>
                      <a:srgbClr val="F3F4F6"/>
                    </a:solidFill>
                  </a:tcPr>
                </a:tc>
                <a:tc>
                  <a:txBody>
                    <a:bodyPr/>
                    <a:lstStyle/>
                    <a:p>
                      <a:r>
                        <a:t>JWT Token + bcrypt密码哈希</a:t>
                      </a:r>
                    </a:p>
                  </a:txBody>
                  <a:tcPr>
                    <a:solidFill>
                      <a:srgbClr val="F3F4F6"/>
                    </a:solidFill>
                  </a:tcPr>
                </a:tc>
                <a:tc>
                  <a:txBody>
                    <a:bodyPr/>
                    <a:lstStyle/>
                    <a:p>
                      <a:r>
                        <a:t>server/src/routes/authority.ts login/auth</a:t>
                      </a:r>
                    </a:p>
                  </a:txBody>
                  <a:tcPr>
                    <a:solidFill>
                      <a:srgbClr val="F3F4F6"/>
                    </a:solidFill>
                  </a:tcPr>
                </a:tc>
              </a:tr>
            </a:tbl>
          </a:graphicData>
        </a:graphic>
      </p:graphicFrame>
      <p:sp>
        <p:nvSpPr>
          <p:cNvPr id="7" name="TextBox 6"/>
          <p:cNvSpPr txBox="1"/>
          <p:nvPr/>
        </p:nvSpPr>
        <p:spPr>
          <a:xfrm>
            <a:off x="457200" y="4480560"/>
            <a:ext cx="11247120" cy="2011680"/>
          </a:xfrm>
          <a:prstGeom prst="rect">
            <a:avLst/>
          </a:prstGeom>
          <a:noFill/>
        </p:spPr>
        <p:txBody>
          <a:bodyPr wrap="square">
            <a:spAutoFit/>
          </a:bodyPr>
          <a:lstStyle/>
          <a:p>
            <a:pPr>
              <a:spcAft>
                <a:spcPts val="600"/>
              </a:spcAft>
              <a:defRPr sz="1100" b="1">
                <a:solidFill>
                  <a:srgbClr val="2D8B8B"/>
                </a:solidFill>
                <a:latin typeface="Microsoft YaHei"/>
              </a:defRPr>
            </a:pPr>
            <a:r>
              <a:t>【前端路由结构 - App.tsx源码提取】</a:t>
            </a:r>
          </a:p>
          <a:p>
            <a:pPr>
              <a:spcAft>
                <a:spcPts val="600"/>
              </a:spcAft>
              <a:defRPr sz="1100">
                <a:solidFill>
                  <a:srgbClr val="1F2937"/>
                </a:solidFill>
                <a:latin typeface="Microsoft YaHei"/>
              </a:defRPr>
            </a:pPr>
            <a:r>
              <a:t>  独立页面: HomePage(/) + Login(/login)</a:t>
            </a:r>
          </a:p>
          <a:p>
            <a:pPr>
              <a:spcAft>
                <a:spcPts val="600"/>
              </a:spcAft>
              <a:defRPr sz="1100">
                <a:solidFill>
                  <a:srgbClr val="1F2937"/>
                </a:solidFill>
                <a:latin typeface="Microsoft YaHei"/>
              </a:defRPr>
            </a:pPr>
            <a:r>
              <a:t>  SimpleLayout: Profile(/profile) + Settings(/settings/*) — 仅Header无侧边栏</a:t>
            </a:r>
          </a:p>
          <a:p>
            <a:pPr>
              <a:spcAft>
                <a:spcPts val="600"/>
              </a:spcAft>
              <a:defRPr sz="1100">
                <a:solidFill>
                  <a:srgbClr val="1F2937"/>
                </a:solidFill>
                <a:latin typeface="Microsoft YaHei"/>
              </a:defRPr>
            </a:pPr>
            <a:r>
              <a:t>  MainLayout: 其余80+页面 — Header + 可折叠Sidebar</a:t>
            </a:r>
          </a:p>
          <a:p>
            <a:pPr>
              <a:spcAft>
                <a:spcPts val="600"/>
              </a:spcAft>
              <a:defRPr sz="1100">
                <a:solidFill>
                  <a:srgbClr val="1F2937"/>
                </a:solidFill>
                <a:latin typeface="Microsoft YaHei"/>
              </a:defRPr>
            </a:pPr>
            <a:r>
              <a:t>  懒加载页面: IoTMonitor, EnvControl, SmartDispatch, DailyPlanning, MonthlyPlanning, FarmTaskHub等</a:t>
            </a:r>
          </a:p>
          <a:p>
            <a:pPr>
              <a:spcAft>
                <a:spcPts val="600"/>
              </a:spcAft>
              <a:defRPr sz="1100">
                <a:solidFill>
                  <a:srgbClr val="1F2937"/>
                </a:solidFill>
                <a:latin typeface="Microsoft YaHei"/>
              </a:defRPr>
            </a:pPr>
          </a:p>
          <a:p>
            <a:pPr>
              <a:spcAft>
                <a:spcPts val="600"/>
              </a:spcAft>
              <a:defRPr sz="1100" b="1">
                <a:solidFill>
                  <a:srgbClr val="2D8B8B"/>
                </a:solidFill>
                <a:latin typeface="Microsoft YaHei"/>
              </a:defRPr>
            </a:pPr>
            <a:r>
              <a:t>【后端路由结构 - server/src/routes/index.ts源码提取】</a:t>
            </a:r>
          </a:p>
          <a:p>
            <a:pPr>
              <a:spcAft>
                <a:spcPts val="600"/>
              </a:spcAft>
              <a:defRPr sz="1100">
                <a:solidFill>
                  <a:srgbClr val="1F2937"/>
                </a:solidFill>
                <a:latin typeface="Microsoft YaHei"/>
              </a:defRPr>
            </a:pPr>
            <a:r>
              <a:t>  /api/farm-tasks | /api/approvals | /api/inventory | /api/labor | /api/authority</a:t>
            </a:r>
          </a:p>
          <a:p>
            <a:pPr>
              <a:spcAft>
                <a:spcPts val="600"/>
              </a:spcAft>
              <a:defRPr sz="1100">
                <a:solidFill>
                  <a:srgbClr val="1F2937"/>
                </a:solidFill>
                <a:latin typeface="Microsoft YaHei"/>
              </a:defRPr>
            </a:pPr>
            <a:r>
              <a:t>  /api/seed-sources | /api/seedlings | /api/plantings | /api/harvest | /api/suppliers</a:t>
            </a:r>
          </a:p>
          <a:p>
            <a:pPr>
              <a:spcAft>
                <a:spcPts val="600"/>
              </a:spcAft>
              <a:defRPr sz="1100">
                <a:solidFill>
                  <a:srgbClr val="1F2937"/>
                </a:solidFill>
                <a:latin typeface="Microsoft YaHei"/>
              </a:defRPr>
            </a:pPr>
            <a:r>
              <a:t>  除/authority和/health外全部需要JWT认证(requireAuth)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系统菜单结构</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MENU STRUCTURE  |  基于Sidebar.tsx源码提取的完整菜单树</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371600"/>
          <a:ext cx="11247120" cy="5029200"/>
        </p:xfrm>
        <a:graphic>
          <a:graphicData uri="http://schemas.openxmlformats.org/drawingml/2006/table">
            <a:tbl>
              <a:tblPr firstRow="1" bandRow="1">
                <a:tableStyleId>{5C22544A-7EE6-4342-B048-85BDC9FD1C3A}</a:tableStyleId>
              </a:tblPr>
              <a:tblGrid>
                <a:gridCol w="2811780"/>
                <a:gridCol w="2811780"/>
                <a:gridCol w="2811780"/>
                <a:gridCol w="2811780"/>
              </a:tblGrid>
              <a:tr h="419100">
                <a:tc>
                  <a:txBody>
                    <a:bodyPr/>
                    <a:lstStyle/>
                    <a:p>
                      <a:r>
                        <a:t>一级菜单</a:t>
                      </a:r>
                    </a:p>
                  </a:txBody>
                  <a:tcPr>
                    <a:solidFill>
                      <a:srgbClr val="1A565E"/>
                    </a:solidFill>
                  </a:tcPr>
                </a:tc>
                <a:tc>
                  <a:txBody>
                    <a:bodyPr/>
                    <a:lstStyle/>
                    <a:p>
                      <a:r>
                        <a:t>路径</a:t>
                      </a:r>
                    </a:p>
                  </a:txBody>
                  <a:tcPr>
                    <a:solidFill>
                      <a:srgbClr val="1A565E"/>
                    </a:solidFill>
                  </a:tcPr>
                </a:tc>
                <a:tc>
                  <a:txBody>
                    <a:bodyPr/>
                    <a:lstStyle/>
                    <a:p>
                      <a:r>
                        <a:t>子菜单</a:t>
                      </a:r>
                    </a:p>
                  </a:txBody>
                  <a:tcPr>
                    <a:solidFill>
                      <a:srgbClr val="1A565E"/>
                    </a:solidFill>
                  </a:tcPr>
                </a:tc>
                <a:tc>
                  <a:txBody>
                    <a:bodyPr/>
                    <a:lstStyle/>
                    <a:p>
                      <a:r>
                        <a:t>组件来源</a:t>
                      </a:r>
                    </a:p>
                  </a:txBody>
                  <a:tcPr>
                    <a:solidFill>
                      <a:srgbClr val="1A565E"/>
                    </a:solidFill>
                  </a:tcPr>
                </a:tc>
              </a:tr>
              <a:tr h="419100">
                <a:tc>
                  <a:txBody>
                    <a:bodyPr/>
                    <a:lstStyle/>
                    <a:p>
                      <a:r>
                        <a:t>园区导览</a:t>
                      </a:r>
                    </a:p>
                  </a:txBody>
                  <a:tcPr>
                    <a:solidFill>
                      <a:srgbClr val="FFFFFF"/>
                    </a:solidFill>
                  </a:tcPr>
                </a:tc>
                <a:tc>
                  <a:txBody>
                    <a:bodyPr/>
                    <a:lstStyle/>
                    <a:p>
                      <a:r>
                        <a:t>/park-archive</a:t>
                      </a:r>
                    </a:p>
                  </a:txBody>
                  <a:tcPr>
                    <a:solidFill>
                      <a:srgbClr val="FFFFFF"/>
                    </a:solidFill>
                  </a:tcPr>
                </a:tc>
                <a:tc>
                  <a:txBody>
                    <a:bodyPr/>
                    <a:lstStyle/>
                    <a:p>
                      <a:r>
                        <a:t>无</a:t>
                      </a:r>
                    </a:p>
                  </a:txBody>
                  <a:tcPr>
                    <a:solidFill>
                      <a:srgbClr val="FFFFFF"/>
                    </a:solidFill>
                  </a:tcPr>
                </a:tc>
                <a:tc>
                  <a:txBody>
                    <a:bodyPr/>
                    <a:lstStyle/>
                    <a:p>
                      <a:r>
                        <a:t>ParkArchive</a:t>
                      </a:r>
                    </a:p>
                  </a:txBody>
                  <a:tcPr>
                    <a:solidFill>
                      <a:srgbClr val="FFFFFF"/>
                    </a:solidFill>
                  </a:tcPr>
                </a:tc>
              </a:tr>
              <a:tr h="419100">
                <a:tc>
                  <a:txBody>
                    <a:bodyPr/>
                    <a:lstStyle/>
                    <a:p>
                      <a:r>
                        <a:t>基地总览</a:t>
                      </a:r>
                    </a:p>
                  </a:txBody>
                  <a:tcPr>
                    <a:solidFill>
                      <a:srgbClr val="F3F4F6"/>
                    </a:solidFill>
                  </a:tcPr>
                </a:tc>
                <a:tc>
                  <a:txBody>
                    <a:bodyPr/>
                    <a:lstStyle/>
                    <a:p>
                      <a:r>
                        <a:t>/dashboard</a:t>
                      </a:r>
                    </a:p>
                  </a:txBody>
                  <a:tcPr>
                    <a:solidFill>
                      <a:srgbClr val="F3F4F6"/>
                    </a:solidFill>
                  </a:tcPr>
                </a:tc>
                <a:tc>
                  <a:txBody>
                    <a:bodyPr/>
                    <a:lstStyle/>
                    <a:p>
                      <a:r>
                        <a:t>无</a:t>
                      </a:r>
                    </a:p>
                  </a:txBody>
                  <a:tcPr>
                    <a:solidFill>
                      <a:srgbClr val="F3F4F6"/>
                    </a:solidFill>
                  </a:tcPr>
                </a:tc>
                <a:tc>
                  <a:txBody>
                    <a:bodyPr/>
                    <a:lstStyle/>
                    <a:p>
                      <a:r>
                        <a:t>Dashboard.tsx (6统计卡片+弹窗)</a:t>
                      </a:r>
                    </a:p>
                  </a:txBody>
                  <a:tcPr>
                    <a:solidFill>
                      <a:srgbClr val="F3F4F6"/>
                    </a:solidFill>
                  </a:tcPr>
                </a:tc>
              </a:tr>
              <a:tr h="419100">
                <a:tc>
                  <a:txBody>
                    <a:bodyPr/>
                    <a:lstStyle/>
                    <a:p>
                      <a:r>
                        <a:t>指标数据</a:t>
                      </a:r>
                    </a:p>
                  </a:txBody>
                  <a:tcPr>
                    <a:solidFill>
                      <a:srgbClr val="FFFFFF"/>
                    </a:solidFill>
                  </a:tcPr>
                </a:tc>
                <a:tc>
                  <a:txBody>
                    <a:bodyPr/>
                    <a:lstStyle/>
                    <a:p>
                      <a:r>
                        <a:t>/indicators</a:t>
                      </a:r>
                    </a:p>
                  </a:txBody>
                  <a:tcPr>
                    <a:solidFill>
                      <a:srgbClr val="FFFFFF"/>
                    </a:solidFill>
                  </a:tcPr>
                </a:tc>
                <a:tc>
                  <a:txBody>
                    <a:bodyPr/>
                    <a:lstStyle/>
                    <a:p>
                      <a:r>
                        <a:t>无</a:t>
                      </a:r>
                    </a:p>
                  </a:txBody>
                  <a:tcPr>
                    <a:solidFill>
                      <a:srgbClr val="FFFFFF"/>
                    </a:solidFill>
                  </a:tcPr>
                </a:tc>
                <a:tc>
                  <a:txBody>
                    <a:bodyPr/>
                    <a:lstStyle/>
                    <a:p>
                      <a:r>
                        <a:t>Indicators</a:t>
                      </a:r>
                    </a:p>
                  </a:txBody>
                  <a:tcPr>
                    <a:solidFill>
                      <a:srgbClr val="FFFFFF"/>
                    </a:solidFill>
                  </a:tcPr>
                </a:tc>
              </a:tr>
              <a:tr h="419100">
                <a:tc>
                  <a:txBody>
                    <a:bodyPr/>
                    <a:lstStyle/>
                    <a:p>
                      <a:r>
                        <a:t>公告管理</a:t>
                      </a:r>
                    </a:p>
                  </a:txBody>
                  <a:tcPr>
                    <a:solidFill>
                      <a:srgbClr val="F3F4F6"/>
                    </a:solidFill>
                  </a:tcPr>
                </a:tc>
                <a:tc>
                  <a:txBody>
                    <a:bodyPr/>
                    <a:lstStyle/>
                    <a:p>
                      <a:r>
                        <a:t>/announcement</a:t>
                      </a:r>
                    </a:p>
                  </a:txBody>
                  <a:tcPr>
                    <a:solidFill>
                      <a:srgbClr val="F3F4F6"/>
                    </a:solidFill>
                  </a:tcPr>
                </a:tc>
                <a:tc>
                  <a:txBody>
                    <a:bodyPr/>
                    <a:lstStyle/>
                    <a:p>
                      <a:r>
                        <a:t>无</a:t>
                      </a:r>
                    </a:p>
                  </a:txBody>
                  <a:tcPr>
                    <a:solidFill>
                      <a:srgbClr val="F3F4F6"/>
                    </a:solidFill>
                  </a:tcPr>
                </a:tc>
                <a:tc>
                  <a:txBody>
                    <a:bodyPr/>
                    <a:lstStyle/>
                    <a:p>
                      <a:r>
                        <a:t>Announcement</a:t>
                      </a:r>
                    </a:p>
                  </a:txBody>
                  <a:tcPr>
                    <a:solidFill>
                      <a:srgbClr val="F3F4F6"/>
                    </a:solidFill>
                  </a:tcPr>
                </a:tc>
              </a:tr>
              <a:tr h="419100">
                <a:tc>
                  <a:txBody>
                    <a:bodyPr/>
                    <a:lstStyle/>
                    <a:p>
                      <a:r>
                        <a:t>计划管理</a:t>
                      </a:r>
                    </a:p>
                  </a:txBody>
                  <a:tcPr>
                    <a:solidFill>
                      <a:srgbClr val="FFFFFF"/>
                    </a:solidFill>
                  </a:tcPr>
                </a:tc>
                <a:tc>
                  <a:txBody>
                    <a:bodyPr/>
                    <a:lstStyle/>
                    <a:p>
                      <a:r>
                        <a:t>/production</a:t>
                      </a:r>
                    </a:p>
                  </a:txBody>
                  <a:tcPr>
                    <a:solidFill>
                      <a:srgbClr val="FFFFFF"/>
                    </a:solidFill>
                  </a:tcPr>
                </a:tc>
                <a:tc>
                  <a:txBody>
                    <a:bodyPr/>
                    <a:lstStyle/>
                    <a:p>
                      <a:r>
                        <a:t>订单/crop/order, 生产计划/production, 技术方案/tech-solution, 采购计划/purchase-plan</a:t>
                      </a:r>
                    </a:p>
                  </a:txBody>
                  <a:tcPr>
                    <a:solidFill>
                      <a:srgbClr val="FFFFFF"/>
                    </a:solidFill>
                  </a:tcPr>
                </a:tc>
                <a:tc>
                  <a:txBody>
                    <a:bodyPr/>
                    <a:lstStyle/>
                    <a:p>
                      <a:r>
                        <a:t>ProductionPage(重导出), TechSolution, PurchasePlan</a:t>
                      </a:r>
                    </a:p>
                  </a:txBody>
                  <a:tcPr>
                    <a:solidFill>
                      <a:srgbClr val="FFFFFF"/>
                    </a:solidFill>
                  </a:tcPr>
                </a:tc>
              </a:tr>
              <a:tr h="419100">
                <a:tc>
                  <a:txBody>
                    <a:bodyPr/>
                    <a:lstStyle/>
                    <a:p>
                      <a:r>
                        <a:t>作物管理</a:t>
                      </a:r>
                    </a:p>
                  </a:txBody>
                  <a:tcPr>
                    <a:solidFill>
                      <a:srgbClr val="F3F4F6"/>
                    </a:solidFill>
                  </a:tcPr>
                </a:tc>
                <a:tc>
                  <a:txBody>
                    <a:bodyPr/>
                    <a:lstStyle/>
                    <a:p>
                      <a:r>
                        <a:t>/crop/seed-source</a:t>
                      </a:r>
                    </a:p>
                  </a:txBody>
                  <a:tcPr>
                    <a:solidFill>
                      <a:srgbClr val="F3F4F6"/>
                    </a:solidFill>
                  </a:tcPr>
                </a:tc>
                <a:tc>
                  <a:txBody>
                    <a:bodyPr/>
                    <a:lstStyle/>
                    <a:p>
                      <a:r>
                        <a:t>种源/seed-source, 育苗/seedling, 种植/planting, 采收/harvest, 作物库存/crop-inventory, 实例追溯/instance</a:t>
                      </a:r>
                    </a:p>
                  </a:txBody>
                  <a:tcPr>
                    <a:solidFill>
                      <a:srgbClr val="F3F4F6"/>
                    </a:solidFill>
                  </a:tcPr>
                </a:tc>
                <a:tc>
                  <a:txBody>
                    <a:bodyPr/>
                    <a:lstStyle/>
                    <a:p>
                      <a:r>
                        <a:t>SeedSourcePage, SeedlingPage, PlantingPage, HarvestPage, InstancePage(均重导出)</a:t>
                      </a:r>
                    </a:p>
                  </a:txBody>
                  <a:tcPr>
                    <a:solidFill>
                      <a:srgbClr val="F3F4F6"/>
                    </a:solidFill>
                  </a:tcPr>
                </a:tc>
              </a:tr>
              <a:tr h="419100">
                <a:tc>
                  <a:txBody>
                    <a:bodyPr/>
                    <a:lstStyle/>
                    <a:p>
                      <a:r>
                        <a:t>农事管理</a:t>
                      </a:r>
                    </a:p>
                  </a:txBody>
                  <a:tcPr>
                    <a:solidFill>
                      <a:srgbClr val="FFFFFF"/>
                    </a:solidFill>
                  </a:tcPr>
                </a:tc>
                <a:tc>
                  <a:txBody>
                    <a:bodyPr/>
                    <a:lstStyle/>
                    <a:p>
                      <a:r>
                        <a:t>/farm-hub</a:t>
                      </a:r>
                    </a:p>
                  </a:txBody>
                  <a:tcPr>
                    <a:solidFill>
                      <a:srgbClr val="FFFFFF"/>
                    </a:solidFill>
                  </a:tcPr>
                </a:tc>
                <a:tc>
                  <a:txBody>
                    <a:bodyPr/>
                    <a:lstStyle/>
                    <a:p>
                      <a:r>
                        <a:t>任务中心/farm-hub, 任务中心/task-center, 每日工单/daily-work-summary</a:t>
                      </a:r>
                    </a:p>
                  </a:txBody>
                  <a:tcPr>
                    <a:solidFill>
                      <a:srgbClr val="FFFFFF"/>
                    </a:solidFill>
                  </a:tcPr>
                </a:tc>
                <a:tc>
                  <a:txBody>
                    <a:bodyPr/>
                    <a:lstStyle/>
                    <a:p>
                      <a:r>
                        <a:t>FarmTaskHub.tsx(706行核心代码), TaskCenterPage</a:t>
                      </a:r>
                    </a:p>
                  </a:txBody>
                  <a:tcPr>
                    <a:solidFill>
                      <a:srgbClr val="FFFFFF"/>
                    </a:solidFill>
                  </a:tcPr>
                </a:tc>
              </a:tr>
              <a:tr h="419100">
                <a:tc>
                  <a:txBody>
                    <a:bodyPr/>
                    <a:lstStyle/>
                    <a:p>
                      <a:r>
                        <a:t>库存管理</a:t>
                      </a:r>
                    </a:p>
                  </a:txBody>
                  <a:tcPr>
                    <a:solidFill>
                      <a:srgbClr val="F3F4F6"/>
                    </a:solidFill>
                  </a:tcPr>
                </a:tc>
                <a:tc>
                  <a:txBody>
                    <a:bodyPr/>
                    <a:lstStyle/>
                    <a:p>
                      <a:r>
                        <a:t>/materials</a:t>
                      </a:r>
                    </a:p>
                  </a:txBody>
                  <a:tcPr>
                    <a:solidFill>
                      <a:srgbClr val="F3F4F6"/>
                    </a:solidFill>
                  </a:tcPr>
                </a:tc>
                <a:tc>
                  <a:txBody>
                    <a:bodyPr/>
                    <a:lstStyle/>
                    <a:p>
                      <a:r>
                        <a:t>库存总览/warehouse-overview, 物料入库/warehouse-inbound, 供应商/supplier-management, 生产领料/material-receiving, 生产退料/material-return</a:t>
                      </a:r>
                    </a:p>
                  </a:txBody>
                  <a:tcPr>
                    <a:solidFill>
                      <a:srgbClr val="F3F4F6"/>
                    </a:solidFill>
                  </a:tcPr>
                </a:tc>
                <a:tc>
                  <a:txBody>
                    <a:bodyPr/>
                    <a:lstStyle/>
                    <a:p>
                      <a:r>
                        <a:t>Materials.tsx, WarehouseOverviewPage, WarehouseInboundPage</a:t>
                      </a:r>
                    </a:p>
                  </a:txBody>
                  <a:tcPr>
                    <a:solidFill>
                      <a:srgbClr val="F3F4F6"/>
                    </a:solidFill>
                  </a:tcPr>
                </a:tc>
              </a:tr>
              <a:tr h="419100">
                <a:tc>
                  <a:txBody>
                    <a:bodyPr/>
                    <a:lstStyle/>
                    <a:p>
                      <a:r>
                        <a:t>人工管理</a:t>
                      </a:r>
                    </a:p>
                  </a:txBody>
                  <a:tcPr>
                    <a:solidFill>
                      <a:srgbClr val="FFFFFF"/>
                    </a:solidFill>
                  </a:tcPr>
                </a:tc>
                <a:tc>
                  <a:txBody>
                    <a:bodyPr/>
                    <a:lstStyle/>
                    <a:p>
                      <a:r>
                        <a:t>/labor/attendance</a:t>
                      </a:r>
                    </a:p>
                  </a:txBody>
                  <a:tcPr>
                    <a:solidFill>
                      <a:srgbClr val="FFFFFF"/>
                    </a:solidFill>
                  </a:tcPr>
                </a:tc>
                <a:tc>
                  <a:txBody>
                    <a:bodyPr/>
                    <a:lstStyle/>
                    <a:p>
                      <a:r>
                        <a:t>考勤/attendance, 人事/personnel, 薪酬/compensation, 运营分析/analytics</a:t>
                      </a:r>
                    </a:p>
                  </a:txBody>
                  <a:tcPr>
                    <a:solidFill>
                      <a:srgbClr val="FFFFFF"/>
                    </a:solidFill>
                  </a:tcPr>
                </a:tc>
                <a:tc>
                  <a:txBody>
                    <a:bodyPr/>
                    <a:lstStyle/>
                    <a:p>
                      <a:r>
                        <a:t>AttendancePage, PersonnelPage, CompensationPage, AnalyticsPage(聚合页面)</a:t>
                      </a:r>
                    </a:p>
                  </a:txBody>
                  <a:tcPr>
                    <a:solidFill>
                      <a:srgbClr val="FFFFFF"/>
                    </a:solidFill>
                  </a:tcPr>
                </a:tc>
              </a:tr>
              <a:tr h="419100">
                <a:tc>
                  <a:txBody>
                    <a:bodyPr/>
                    <a:lstStyle/>
                    <a:p>
                      <a:r>
                        <a:t>生产汇总表</a:t>
                      </a:r>
                    </a:p>
                  </a:txBody>
                  <a:tcPr>
                    <a:solidFill>
                      <a:srgbClr val="F3F4F6"/>
                    </a:solidFill>
                  </a:tcPr>
                </a:tc>
                <a:tc>
                  <a:txBody>
                    <a:bodyPr/>
                    <a:lstStyle/>
                    <a:p>
                      <a:r>
                        <a:t>/reports</a:t>
                      </a:r>
                    </a:p>
                  </a:txBody>
                  <a:tcPr>
                    <a:solidFill>
                      <a:srgbClr val="F3F4F6"/>
                    </a:solidFill>
                  </a:tcPr>
                </a:tc>
                <a:tc>
                  <a:txBody>
                    <a:bodyPr/>
                    <a:lstStyle/>
                    <a:p>
                      <a:r>
                        <a:t>每日问题/daily-problem-summary, 计划汇总/plan-summary, 生产报表/reports</a:t>
                      </a:r>
                    </a:p>
                  </a:txBody>
                  <a:tcPr>
                    <a:solidFill>
                      <a:srgbClr val="F3F4F6"/>
                    </a:solidFill>
                  </a:tcPr>
                </a:tc>
                <a:tc>
                  <a:txBody>
                    <a:bodyPr/>
                    <a:lstStyle/>
                    <a:p>
                      <a:r>
                        <a:t>DailyProblemSummary, PlanSummary, Reports</a:t>
                      </a:r>
                    </a:p>
                  </a:txBody>
                  <a:tcPr>
                    <a:solidFill>
                      <a:srgbClr val="F3F4F6"/>
                    </a:solidFill>
                  </a:tcPr>
                </a:tc>
              </a:tr>
              <a:tr h="419100">
                <a:tc>
                  <a:txBody>
                    <a:bodyPr/>
                    <a:lstStyle/>
                    <a:p>
                      <a:r>
                        <a:t>审批中心</a:t>
                      </a:r>
                    </a:p>
                  </a:txBody>
                  <a:tcPr>
                    <a:solidFill>
                      <a:srgbClr val="FFFFFF"/>
                    </a:solidFill>
                  </a:tcPr>
                </a:tc>
                <a:tc>
                  <a:txBody>
                    <a:bodyPr/>
                    <a:lstStyle/>
                    <a:p>
                      <a:r>
                        <a:t>/approvals</a:t>
                      </a:r>
                    </a:p>
                  </a:txBody>
                  <a:tcPr>
                    <a:solidFill>
                      <a:srgbClr val="FFFFFF"/>
                    </a:solidFill>
                  </a:tcPr>
                </a:tc>
                <a:tc>
                  <a:txBody>
                    <a:bodyPr/>
                    <a:lstStyle/>
                    <a:p>
                      <a:r>
                        <a:t>审批中心/approvals, 物料/material-approval, 生产/production-approval, 农事/farm-approval, 指标预算/indicator-budget-approval, 我的申请/my-applications, 人事/hr-approval</a:t>
                      </a:r>
                    </a:p>
                  </a:txBody>
                  <a:tcPr>
                    <a:solidFill>
                      <a:srgbClr val="FFFFFF"/>
                    </a:solidFill>
                  </a:tcPr>
                </a:tc>
                <a:tc>
                  <a:txBody>
                    <a:bodyPr/>
                    <a:lstStyle/>
                    <a:p>
                      <a:r>
                        <a:t>Approvals.tsx, PendingApproval, Approved, HrApproval等</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计划管理模块</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PLAN MANAGEMENT  |  基于ProductionPage及后端路由代码提取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914400"/>
          </a:xfrm>
          <a:prstGeom prst="rect">
            <a:avLst/>
          </a:prstGeom>
          <a:noFill/>
        </p:spPr>
        <p:txBody>
          <a:bodyPr wrap="square">
            <a:spAutoFit/>
          </a:bodyPr>
          <a:lstStyle/>
          <a:p>
            <a:pPr>
              <a:lnSpc>
                <a:spcPct val="150000"/>
              </a:lnSpc>
              <a:defRPr sz="1200">
                <a:solidFill>
                  <a:srgbClr val="1F2937"/>
                </a:solidFill>
                <a:latin typeface="Microsoft YaHei"/>
              </a:defRPr>
            </a:pPr>
            <a:r>
              <a:t>计划管理模块是农业生产的前置规划模块，覆盖从订单接收、生产计划制定、技术方案选择到物料采购的完整计划链路。ProductionPage为聚合导出组件，子模块均独立实现，各拥有完整的CRUD和审批能力。</a:t>
            </a:r>
          </a:p>
        </p:txBody>
      </p:sp>
      <p:graphicFrame>
        <p:nvGraphicFramePr>
          <p:cNvPr id="7" name="Table 6"/>
          <p:cNvGraphicFramePr>
            <a:graphicFrameLocks noGrp="1"/>
          </p:cNvGraphicFramePr>
          <p:nvPr/>
        </p:nvGraphicFramePr>
        <p:xfrm>
          <a:off x="457200" y="2377440"/>
          <a:ext cx="11247120" cy="347472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694944">
                <a:tc>
                  <a:txBody>
                    <a:bodyPr/>
                    <a:lstStyle/>
                    <a:p>
                      <a:r>
                        <a:t>功能</a:t>
                      </a:r>
                    </a:p>
                  </a:txBody>
                  <a:tcPr>
                    <a:solidFill>
                      <a:srgbClr val="1A565E"/>
                    </a:solidFill>
                  </a:tcPr>
                </a:tc>
                <a:tc>
                  <a:txBody>
                    <a:bodyPr/>
                    <a:lstStyle/>
                    <a:p>
                      <a:r>
                        <a:t>路径</a:t>
                      </a:r>
                    </a:p>
                  </a:txBody>
                  <a:tcPr>
                    <a:solidFill>
                      <a:srgbClr val="1A565E"/>
                    </a:solidFill>
                  </a:tcPr>
                </a:tc>
                <a:tc>
                  <a:txBody>
                    <a:bodyPr/>
                    <a:lstStyle/>
                    <a:p>
                      <a:r>
                        <a:t>前端组件</a:t>
                      </a:r>
                    </a:p>
                  </a:txBody>
                  <a:tcPr>
                    <a:solidFill>
                      <a:srgbClr val="1A565E"/>
                    </a:solidFill>
                  </a:tcPr>
                </a:tc>
                <a:tc>
                  <a:txBody>
                    <a:bodyPr/>
                    <a:lstStyle/>
                    <a:p>
                      <a:r>
                        <a:t>后端路由</a:t>
                      </a:r>
                    </a:p>
                  </a:txBody>
                  <a:tcPr>
                    <a:solidFill>
                      <a:srgbClr val="1A565E"/>
                    </a:solidFill>
                  </a:tcPr>
                </a:tc>
                <a:tc>
                  <a:txBody>
                    <a:bodyPr/>
                    <a:lstStyle/>
                    <a:p>
                      <a:r>
                        <a:t>核心能力</a:t>
                      </a:r>
                    </a:p>
                  </a:txBody>
                  <a:tcPr>
                    <a:solidFill>
                      <a:srgbClr val="1A565E"/>
                    </a:solidFill>
                  </a:tcPr>
                </a:tc>
              </a:tr>
              <a:tr h="694944">
                <a:tc>
                  <a:txBody>
                    <a:bodyPr/>
                    <a:lstStyle/>
                    <a:p>
                      <a:r>
                        <a:t>订单管理</a:t>
                      </a:r>
                    </a:p>
                  </a:txBody>
                  <a:tcPr>
                    <a:solidFill>
                      <a:srgbClr val="FFFFFF"/>
                    </a:solidFill>
                  </a:tcPr>
                </a:tc>
                <a:tc>
                  <a:txBody>
                    <a:bodyPr/>
                    <a:lstStyle/>
                    <a:p>
                      <a:r>
                        <a:t>/crop/order</a:t>
                      </a:r>
                    </a:p>
                  </a:txBody>
                  <a:tcPr>
                    <a:solidFill>
                      <a:srgbClr val="FFFFFF"/>
                    </a:solidFill>
                  </a:tcPr>
                </a:tc>
                <a:tc>
                  <a:txBody>
                    <a:bodyPr/>
                    <a:lstStyle/>
                    <a:p>
                      <a:r>
                        <a:t>OrderPage</a:t>
                      </a:r>
                    </a:p>
                  </a:txBody>
                  <a:tcPr>
                    <a:solidFill>
                      <a:srgbClr val="FFFFFF"/>
                    </a:solidFill>
                  </a:tcPr>
                </a:tc>
                <a:tc>
                  <a:txBody>
                    <a:bodyPr/>
                    <a:lstStyle/>
                    <a:p>
                      <a:r>
                        <a:t>/api/crop-orders</a:t>
                      </a:r>
                    </a:p>
                  </a:txBody>
                  <a:tcPr>
                    <a:solidFill>
                      <a:srgbClr val="FFFFFF"/>
                    </a:solidFill>
                  </a:tcPr>
                </a:tc>
                <a:tc>
                  <a:txBody>
                    <a:bodyPr/>
                    <a:lstStyle/>
                    <a:p>
                      <a:r>
                        <a:t>订单CRUD、状态流转(草稿→提交→审批→执行)</a:t>
                      </a:r>
                    </a:p>
                  </a:txBody>
                  <a:tcPr>
                    <a:solidFill>
                      <a:srgbClr val="FFFFFF"/>
                    </a:solidFill>
                  </a:tcPr>
                </a:tc>
              </a:tr>
              <a:tr h="694944">
                <a:tc>
                  <a:txBody>
                    <a:bodyPr/>
                    <a:lstStyle/>
                    <a:p>
                      <a:r>
                        <a:t>生产计划</a:t>
                      </a:r>
                    </a:p>
                  </a:txBody>
                  <a:tcPr>
                    <a:solidFill>
                      <a:srgbClr val="F3F4F6"/>
                    </a:solidFill>
                  </a:tcPr>
                </a:tc>
                <a:tc>
                  <a:txBody>
                    <a:bodyPr/>
                    <a:lstStyle/>
                    <a:p>
                      <a:r>
                        <a:t>/production</a:t>
                      </a:r>
                    </a:p>
                  </a:txBody>
                  <a:tcPr>
                    <a:solidFill>
                      <a:srgbClr val="F3F4F6"/>
                    </a:solidFill>
                  </a:tcPr>
                </a:tc>
                <a:tc>
                  <a:txBody>
                    <a:bodyPr/>
                    <a:lstStyle/>
                    <a:p>
                      <a:r>
                        <a:t>ProductionPage</a:t>
                      </a:r>
                    </a:p>
                  </a:txBody>
                  <a:tcPr>
                    <a:solidFill>
                      <a:srgbClr val="F3F4F6"/>
                    </a:solidFill>
                  </a:tcPr>
                </a:tc>
                <a:tc>
                  <a:txBody>
                    <a:bodyPr/>
                    <a:lstStyle/>
                    <a:p>
                      <a:r>
                        <a:t>/api/production-plans</a:t>
                      </a:r>
                    </a:p>
                  </a:txBody>
                  <a:tcPr>
                    <a:solidFill>
                      <a:srgbClr val="F3F4F6"/>
                    </a:solidFill>
                  </a:tcPr>
                </a:tc>
                <a:tc>
                  <a:txBody>
                    <a:bodyPr/>
                    <a:lstStyle/>
                    <a:p>
                      <a:r>
                        <a:t>计划制定、排期、关联技术方案、审批</a:t>
                      </a:r>
                    </a:p>
                  </a:txBody>
                  <a:tcPr>
                    <a:solidFill>
                      <a:srgbClr val="F3F4F6"/>
                    </a:solidFill>
                  </a:tcPr>
                </a:tc>
              </a:tr>
              <a:tr h="694944">
                <a:tc>
                  <a:txBody>
                    <a:bodyPr/>
                    <a:lstStyle/>
                    <a:p>
                      <a:r>
                        <a:t>技术方案</a:t>
                      </a:r>
                    </a:p>
                  </a:txBody>
                  <a:tcPr>
                    <a:solidFill>
                      <a:srgbClr val="FFFFFF"/>
                    </a:solidFill>
                  </a:tcPr>
                </a:tc>
                <a:tc>
                  <a:txBody>
                    <a:bodyPr/>
                    <a:lstStyle/>
                    <a:p>
                      <a:r>
                        <a:t>/tech-solution</a:t>
                      </a:r>
                    </a:p>
                  </a:txBody>
                  <a:tcPr>
                    <a:solidFill>
                      <a:srgbClr val="FFFFFF"/>
                    </a:solidFill>
                  </a:tcPr>
                </a:tc>
                <a:tc>
                  <a:txBody>
                    <a:bodyPr/>
                    <a:lstStyle/>
                    <a:p>
                      <a:r>
                        <a:t>TechSolution</a:t>
                      </a:r>
                    </a:p>
                  </a:txBody>
                  <a:tcPr>
                    <a:solidFill>
                      <a:srgbClr val="FFFFFF"/>
                    </a:solidFill>
                  </a:tcPr>
                </a:tc>
                <a:tc>
                  <a:txBody>
                    <a:bodyPr/>
                    <a:lstStyle/>
                    <a:p>
                      <a:r>
                        <a:t>/api/tech-solutions</a:t>
                      </a:r>
                    </a:p>
                  </a:txBody>
                  <a:tcPr>
                    <a:solidFill>
                      <a:srgbClr val="FFFFFF"/>
                    </a:solidFill>
                  </a:tcPr>
                </a:tc>
                <a:tc>
                  <a:txBody>
                    <a:bodyPr/>
                    <a:lstStyle/>
                    <a:p>
                      <a:r>
                        <a:t>方案库、参数模板、关联作物品种</a:t>
                      </a:r>
                    </a:p>
                  </a:txBody>
                  <a:tcPr>
                    <a:solidFill>
                      <a:srgbClr val="FFFFFF"/>
                    </a:solidFill>
                  </a:tcPr>
                </a:tc>
              </a:tr>
              <a:tr h="694944">
                <a:tc>
                  <a:txBody>
                    <a:bodyPr/>
                    <a:lstStyle/>
                    <a:p>
                      <a:r>
                        <a:t>采购计划</a:t>
                      </a:r>
                    </a:p>
                  </a:txBody>
                  <a:tcPr>
                    <a:solidFill>
                      <a:srgbClr val="F3F4F6"/>
                    </a:solidFill>
                  </a:tcPr>
                </a:tc>
                <a:tc>
                  <a:txBody>
                    <a:bodyPr/>
                    <a:lstStyle/>
                    <a:p>
                      <a:r>
                        <a:t>/purchase-plan</a:t>
                      </a:r>
                    </a:p>
                  </a:txBody>
                  <a:tcPr>
                    <a:solidFill>
                      <a:srgbClr val="F3F4F6"/>
                    </a:solidFill>
                  </a:tcPr>
                </a:tc>
                <a:tc>
                  <a:txBody>
                    <a:bodyPr/>
                    <a:lstStyle/>
                    <a:p>
                      <a:r>
                        <a:t>PurchasePlan</a:t>
                      </a:r>
                    </a:p>
                  </a:txBody>
                  <a:tcPr>
                    <a:solidFill>
                      <a:srgbClr val="F3F4F6"/>
                    </a:solidFill>
                  </a:tcPr>
                </a:tc>
                <a:tc>
                  <a:txBody>
                    <a:bodyPr/>
                    <a:lstStyle/>
                    <a:p>
                      <a:r>
                        <a:t>/api/purchase-plans</a:t>
                      </a:r>
                    </a:p>
                  </a:txBody>
                  <a:tcPr>
                    <a:solidFill>
                      <a:srgbClr val="F3F4F6"/>
                    </a:solidFill>
                  </a:tcPr>
                </a:tc>
                <a:tc>
                  <a:txBody>
                    <a:bodyPr/>
                    <a:lstStyle/>
                    <a:p>
                      <a:r>
                        <a:t>物料需求计划、供应商关联、审批</a:t>
                      </a:r>
                    </a:p>
                  </a:txBody>
                  <a:tcPr>
                    <a:solidFill>
                      <a:srgbClr val="F3F4F6"/>
                    </a:solidFill>
                  </a:tcPr>
                </a:tc>
              </a:tr>
            </a:tbl>
          </a:graphicData>
        </a:graphic>
      </p:graphicFrame>
      <p:sp>
        <p:nvSpPr>
          <p:cNvPr id="8" name="TextBox 7"/>
          <p:cNvSpPr txBox="1"/>
          <p:nvPr/>
        </p:nvSpPr>
        <p:spPr>
          <a:xfrm>
            <a:off x="457200" y="6035040"/>
            <a:ext cx="11247120" cy="640080"/>
          </a:xfrm>
          <a:prstGeom prst="rect">
            <a:avLst/>
          </a:prstGeom>
          <a:noFill/>
        </p:spPr>
        <p:txBody>
          <a:bodyPr wrap="square">
            <a:spAutoFit/>
          </a:bodyPr>
          <a:lstStyle/>
          <a:p>
            <a:pPr>
              <a:defRPr sz="1100">
                <a:solidFill>
                  <a:srgbClr val="2D8B8B"/>
                </a:solidFill>
                <a:latin typeface="Microsoft YaHei"/>
              </a:defRPr>
            </a:pPr>
            <a:r>
              <a:t>【源码备注】所有计划模块均支持权限控制(roles_authority表)、数据权限(roles_data_authority表)、审批流程配置(approvals表)，并与farm_tasks表关联下发农事任务。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作物管理模块</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CROP MANAGEMENT  |  基于SeedSourcePage/SeedlingPage/PlantingPage代码提取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731520"/>
          </a:xfrm>
          <a:prstGeom prst="rect">
            <a:avLst/>
          </a:prstGeom>
          <a:noFill/>
        </p:spPr>
        <p:txBody>
          <a:bodyPr wrap="square">
            <a:spAutoFit/>
          </a:bodyPr>
          <a:lstStyle/>
          <a:p>
            <a:pPr>
              <a:lnSpc>
                <a:spcPct val="150000"/>
              </a:lnSpc>
              <a:defRPr sz="1200">
                <a:solidFill>
                  <a:srgbClr val="1F2937"/>
                </a:solidFill>
                <a:latin typeface="Microsoft YaHei"/>
              </a:defRPr>
            </a:pPr>
            <a:r>
              <a:t>作物管理模块覆盖作物从种源定义到最终采收的全生命周期管理，包含品种库、种源管理、育苗管理、种植管理、采收管理和库存追溯，是系统的核心业务数据源头。</a:t>
            </a:r>
          </a:p>
        </p:txBody>
      </p:sp>
      <p:graphicFrame>
        <p:nvGraphicFramePr>
          <p:cNvPr id="7" name="Table 6"/>
          <p:cNvGraphicFramePr>
            <a:graphicFrameLocks noGrp="1"/>
          </p:cNvGraphicFramePr>
          <p:nvPr/>
        </p:nvGraphicFramePr>
        <p:xfrm>
          <a:off x="457200" y="2194560"/>
          <a:ext cx="11247120" cy="4114800"/>
        </p:xfrm>
        <a:graphic>
          <a:graphicData uri="http://schemas.openxmlformats.org/drawingml/2006/table">
            <a:tbl>
              <a:tblPr firstRow="1" bandRow="1">
                <a:tableStyleId>{5C22544A-7EE6-4342-B048-85BDC9FD1C3A}</a:tableStyleId>
              </a:tblPr>
              <a:tblGrid>
                <a:gridCol w="2811780"/>
                <a:gridCol w="2811780"/>
                <a:gridCol w="2811780"/>
                <a:gridCol w="2811780"/>
              </a:tblGrid>
              <a:tr h="587828">
                <a:tc>
                  <a:txBody>
                    <a:bodyPr/>
                    <a:lstStyle/>
                    <a:p>
                      <a:r>
                        <a:t>功能</a:t>
                      </a:r>
                    </a:p>
                  </a:txBody>
                  <a:tcPr>
                    <a:solidFill>
                      <a:srgbClr val="1A565E"/>
                    </a:solidFill>
                  </a:tcPr>
                </a:tc>
                <a:tc>
                  <a:txBody>
                    <a:bodyPr/>
                    <a:lstStyle/>
                    <a:p>
                      <a:r>
                        <a:t>路径</a:t>
                      </a:r>
                    </a:p>
                  </a:txBody>
                  <a:tcPr>
                    <a:solidFill>
                      <a:srgbClr val="1A565E"/>
                    </a:solidFill>
                  </a:tcPr>
                </a:tc>
                <a:tc>
                  <a:txBody>
                    <a:bodyPr/>
                    <a:lstStyle/>
                    <a:p>
                      <a:r>
                        <a:t>关键表</a:t>
                      </a:r>
                    </a:p>
                  </a:txBody>
                  <a:tcPr>
                    <a:solidFill>
                      <a:srgbClr val="1A565E"/>
                    </a:solidFill>
                  </a:tcPr>
                </a:tc>
                <a:tc>
                  <a:txBody>
                    <a:bodyPr/>
                    <a:lstStyle/>
                    <a:p>
                      <a:r>
                        <a:t>核心能力</a:t>
                      </a:r>
                    </a:p>
                  </a:txBody>
                  <a:tcPr>
                    <a:solidFill>
                      <a:srgbClr val="1A565E"/>
                    </a:solidFill>
                  </a:tcPr>
                </a:tc>
              </a:tr>
              <a:tr h="587828">
                <a:tc>
                  <a:txBody>
                    <a:bodyPr/>
                    <a:lstStyle/>
                    <a:p>
                      <a:r>
                        <a:t>品种库</a:t>
                      </a:r>
                    </a:p>
                  </a:txBody>
                  <a:tcPr>
                    <a:solidFill>
                      <a:srgbClr val="FFFFFF"/>
                    </a:solidFill>
                  </a:tcPr>
                </a:tc>
                <a:tc>
                  <a:txBody>
                    <a:bodyPr/>
                    <a:lstStyle/>
                    <a:p>
                      <a:r>
                        <a:t>/crop-varieties</a:t>
                      </a:r>
                    </a:p>
                  </a:txBody>
                  <a:tcPr>
                    <a:solidFill>
                      <a:srgbClr val="FFFFFF"/>
                    </a:solidFill>
                  </a:tcPr>
                </a:tc>
                <a:tc>
                  <a:txBody>
                    <a:bodyPr/>
                    <a:lstStyle/>
                    <a:p>
                      <a:r>
                        <a:t>crop_varieties</a:t>
                      </a:r>
                    </a:p>
                  </a:txBody>
                  <a:tcPr>
                    <a:solidFill>
                      <a:srgbClr val="FFFFFF"/>
                    </a:solidFill>
                  </a:tcPr>
                </a:tc>
                <a:tc>
                  <a:txBody>
                    <a:bodyPr/>
                    <a:lstStyle/>
                    <a:p>
                      <a:r>
                        <a:t>品种定义、生育期参数、品质标准、分类管理</a:t>
                      </a:r>
                    </a:p>
                  </a:txBody>
                  <a:tcPr>
                    <a:solidFill>
                      <a:srgbClr val="FFFFFF"/>
                    </a:solidFill>
                  </a:tcPr>
                </a:tc>
              </a:tr>
              <a:tr h="587828">
                <a:tc>
                  <a:txBody>
                    <a:bodyPr/>
                    <a:lstStyle/>
                    <a:p>
                      <a:r>
                        <a:t>种源管理</a:t>
                      </a:r>
                    </a:p>
                  </a:txBody>
                  <a:tcPr>
                    <a:solidFill>
                      <a:srgbClr val="F3F4F6"/>
                    </a:solidFill>
                  </a:tcPr>
                </a:tc>
                <a:tc>
                  <a:txBody>
                    <a:bodyPr/>
                    <a:lstStyle/>
                    <a:p>
                      <a:r>
                        <a:t>/crop/seed-source</a:t>
                      </a:r>
                    </a:p>
                  </a:txBody>
                  <a:tcPr>
                    <a:solidFill>
                      <a:srgbClr val="F3F4F6"/>
                    </a:solidFill>
                  </a:tcPr>
                </a:tc>
                <a:tc>
                  <a:txBody>
                    <a:bodyPr/>
                    <a:lstStyle/>
                    <a:p>
                      <a:r>
                        <a:t>seed_sources</a:t>
                      </a:r>
                    </a:p>
                  </a:txBody>
                  <a:tcPr>
                    <a:solidFill>
                      <a:srgbClr val="F3F4F6"/>
                    </a:solidFill>
                  </a:tcPr>
                </a:tc>
                <a:tc>
                  <a:txBody>
                    <a:bodyPr/>
                    <a:lstStyle/>
                    <a:p>
                      <a:r>
                        <a:t>批次管理、标签打印、图片记录、详情/编辑/删除/批量操作</a:t>
                      </a:r>
                    </a:p>
                  </a:txBody>
                  <a:tcPr>
                    <a:solidFill>
                      <a:srgbClr val="F3F4F6"/>
                    </a:solidFill>
                  </a:tcPr>
                </a:tc>
              </a:tr>
              <a:tr h="587828">
                <a:tc>
                  <a:txBody>
                    <a:bodyPr/>
                    <a:lstStyle/>
                    <a:p>
                      <a:r>
                        <a:t>育苗管理</a:t>
                      </a:r>
                    </a:p>
                  </a:txBody>
                  <a:tcPr>
                    <a:solidFill>
                      <a:srgbClr val="FFFFFF"/>
                    </a:solidFill>
                  </a:tcPr>
                </a:tc>
                <a:tc>
                  <a:txBody>
                    <a:bodyPr/>
                    <a:lstStyle/>
                    <a:p>
                      <a:r>
                        <a:t>/crop/seedling</a:t>
                      </a:r>
                    </a:p>
                  </a:txBody>
                  <a:tcPr>
                    <a:solidFill>
                      <a:srgbClr val="FFFFFF"/>
                    </a:solidFill>
                  </a:tcPr>
                </a:tc>
                <a:tc>
                  <a:txBody>
                    <a:bodyPr/>
                    <a:lstStyle/>
                    <a:p>
                      <a:r>
                        <a:t>seedlings, transplant_records</a:t>
                      </a:r>
                    </a:p>
                  </a:txBody>
                  <a:tcPr>
                    <a:solidFill>
                      <a:srgbClr val="FFFFFF"/>
                    </a:solidFill>
                  </a:tcPr>
                </a:tc>
                <a:tc>
                  <a:txBody>
                    <a:bodyPr/>
                    <a:lstStyle/>
                    <a:p>
                      <a:r>
                        <a:t>育苗记录、定植移栽、移栽历史、日记录管理、图片灯箱</a:t>
                      </a:r>
                    </a:p>
                  </a:txBody>
                  <a:tcPr>
                    <a:solidFill>
                      <a:srgbClr val="FFFFFF"/>
                    </a:solidFill>
                  </a:tcPr>
                </a:tc>
              </a:tr>
              <a:tr h="587828">
                <a:tc>
                  <a:txBody>
                    <a:bodyPr/>
                    <a:lstStyle/>
                    <a:p>
                      <a:r>
                        <a:t>种植管理</a:t>
                      </a:r>
                    </a:p>
                  </a:txBody>
                  <a:tcPr>
                    <a:solidFill>
                      <a:srgbClr val="F3F4F6"/>
                    </a:solidFill>
                  </a:tcPr>
                </a:tc>
                <a:tc>
                  <a:txBody>
                    <a:bodyPr/>
                    <a:lstStyle/>
                    <a:p>
                      <a:r>
                        <a:t>/crop/planting</a:t>
                      </a:r>
                    </a:p>
                  </a:txBody>
                  <a:tcPr>
                    <a:solidFill>
                      <a:srgbClr val="F3F4F6"/>
                    </a:solidFill>
                  </a:tcPr>
                </a:tc>
                <a:tc>
                  <a:txBody>
                    <a:bodyPr/>
                    <a:lstStyle/>
                    <a:p>
                      <a:r>
                        <a:t>plantings</a:t>
                      </a:r>
                    </a:p>
                  </a:txBody>
                  <a:tcPr>
                    <a:solidFill>
                      <a:srgbClr val="F3F4F6"/>
                    </a:solidFill>
                  </a:tcPr>
                </a:tc>
                <a:tc>
                  <a:txBody>
                    <a:bodyPr/>
                    <a:lstStyle/>
                    <a:p>
                      <a:r>
                        <a:t>种植批次、生长记录、采收关联、图片管理、标签打印</a:t>
                      </a:r>
                    </a:p>
                  </a:txBody>
                  <a:tcPr>
                    <a:solidFill>
                      <a:srgbClr val="F3F4F6"/>
                    </a:solidFill>
                  </a:tcPr>
                </a:tc>
              </a:tr>
              <a:tr h="587828">
                <a:tc>
                  <a:txBody>
                    <a:bodyPr/>
                    <a:lstStyle/>
                    <a:p>
                      <a:r>
                        <a:t>采收管理</a:t>
                      </a:r>
                    </a:p>
                  </a:txBody>
                  <a:tcPr>
                    <a:solidFill>
                      <a:srgbClr val="FFFFFF"/>
                    </a:solidFill>
                  </a:tcPr>
                </a:tc>
                <a:tc>
                  <a:txBody>
                    <a:bodyPr/>
                    <a:lstStyle/>
                    <a:p>
                      <a:r>
                        <a:t>/crop/harvest</a:t>
                      </a:r>
                    </a:p>
                  </a:txBody>
                  <a:tcPr>
                    <a:solidFill>
                      <a:srgbClr val="FFFFFF"/>
                    </a:solidFill>
                  </a:tcPr>
                </a:tc>
                <a:tc>
                  <a:txBody>
                    <a:bodyPr/>
                    <a:lstStyle/>
                    <a:p>
                      <a:r>
                        <a:t>harvest_records</a:t>
                      </a:r>
                    </a:p>
                  </a:txBody>
                  <a:tcPr>
                    <a:solidFill>
                      <a:srgbClr val="FFFFFF"/>
                    </a:solidFill>
                  </a:tcPr>
                </a:tc>
                <a:tc>
                  <a:txBody>
                    <a:bodyPr/>
                    <a:lstStyle/>
                    <a:p>
                      <a:r>
                        <a:t>采收记录、产量统计、品质等级、关联种植批次</a:t>
                      </a:r>
                    </a:p>
                  </a:txBody>
                  <a:tcPr>
                    <a:solidFill>
                      <a:srgbClr val="FFFFFF"/>
                    </a:solidFill>
                  </a:tcPr>
                </a:tc>
              </a:tr>
              <a:tr h="587832">
                <a:tc>
                  <a:txBody>
                    <a:bodyPr/>
                    <a:lstStyle/>
                    <a:p>
                      <a:r>
                        <a:t>实例追溯</a:t>
                      </a:r>
                    </a:p>
                  </a:txBody>
                  <a:tcPr>
                    <a:solidFill>
                      <a:srgbClr val="F3F4F6"/>
                    </a:solidFill>
                  </a:tcPr>
                </a:tc>
                <a:tc>
                  <a:txBody>
                    <a:bodyPr/>
                    <a:lstStyle/>
                    <a:p>
                      <a:r>
                        <a:t>/crop/instance</a:t>
                      </a:r>
                    </a:p>
                  </a:txBody>
                  <a:tcPr>
                    <a:solidFill>
                      <a:srgbClr val="F3F4F6"/>
                    </a:solidFill>
                  </a:tcPr>
                </a:tc>
                <a:tc>
                  <a:txBody>
                    <a:bodyPr/>
                    <a:lstStyle/>
                    <a:p>
                      <a:r>
                        <a:t>crop_instances</a:t>
                      </a:r>
                    </a:p>
                  </a:txBody>
                  <a:tcPr>
                    <a:solidFill>
                      <a:srgbClr val="F3F4F6"/>
                    </a:solidFill>
                  </a:tcPr>
                </a:tc>
                <a:tc>
                  <a:txBody>
                    <a:bodyPr/>
                    <a:lstStyle/>
                    <a:p>
                      <a:r>
                        <a:t>全生命周期追溯、种植批次→采收→销售链路查询</a:t>
                      </a:r>
                    </a:p>
                  </a:txBody>
                  <a:tcPr>
                    <a:solidFill>
                      <a:srgbClr val="F3F4F6"/>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农事管理 - 任务中心</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FARM TASK HUB  |  基于FarmTaskHub.tsx(706行)源码深度提取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731520"/>
          </a:xfrm>
          <a:prstGeom prst="rect">
            <a:avLst/>
          </a:prstGeom>
          <a:noFill/>
        </p:spPr>
        <p:txBody>
          <a:bodyPr wrap="square">
            <a:spAutoFit/>
          </a:bodyPr>
          <a:lstStyle/>
          <a:p>
            <a:pPr>
              <a:lnSpc>
                <a:spcPct val="150000"/>
              </a:lnSpc>
              <a:defRPr sz="1200">
                <a:solidFill>
                  <a:srgbClr val="1F2937"/>
                </a:solidFill>
                <a:latin typeface="Microsoft YaHei"/>
              </a:defRPr>
            </a:pPr>
            <a:r>
              <a:t>FarmTaskHub是系统最核心的业务组件(706行代码)，提供4个Tab视图（任务/临时任务/巡查/问题），15+弹窗，完整的任务生命周期管理和智能派工能力。</a:t>
            </a:r>
          </a:p>
        </p:txBody>
      </p:sp>
      <p:sp>
        <p:nvSpPr>
          <p:cNvPr id="7" name="Rounded Rectangle 6"/>
          <p:cNvSpPr/>
          <p:nvPr/>
        </p:nvSpPr>
        <p:spPr>
          <a:xfrm>
            <a:off x="457200" y="2194560"/>
            <a:ext cx="2651760" cy="5486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304288"/>
            <a:ext cx="2651760" cy="320040"/>
          </a:xfrm>
          <a:prstGeom prst="rect">
            <a:avLst/>
          </a:prstGeom>
          <a:noFill/>
        </p:spPr>
        <p:txBody>
          <a:bodyPr wrap="none">
            <a:spAutoFit/>
          </a:bodyPr>
          <a:lstStyle/>
          <a:p>
            <a:pPr algn="ctr">
              <a:defRPr sz="1300" b="1">
                <a:solidFill>
                  <a:srgbClr val="FFFFFF"/>
                </a:solidFill>
                <a:latin typeface="Microsoft YaHei"/>
              </a:defRPr>
            </a:pPr>
            <a:r>
              <a:t>任务(正式)</a:t>
            </a:r>
          </a:p>
        </p:txBody>
      </p:sp>
      <p:sp>
        <p:nvSpPr>
          <p:cNvPr id="9" name="TextBox 8"/>
          <p:cNvSpPr txBox="1"/>
          <p:nvPr/>
        </p:nvSpPr>
        <p:spPr>
          <a:xfrm>
            <a:off x="457200" y="2834640"/>
            <a:ext cx="2651760" cy="457200"/>
          </a:xfrm>
          <a:prstGeom prst="rect">
            <a:avLst/>
          </a:prstGeom>
          <a:noFill/>
        </p:spPr>
        <p:txBody>
          <a:bodyPr wrap="square">
            <a:spAutoFit/>
          </a:bodyPr>
          <a:lstStyle/>
          <a:p>
            <a:pPr>
              <a:defRPr sz="900">
                <a:solidFill>
                  <a:srgbClr val="6B7280"/>
                </a:solidFill>
                <a:latin typeface="Microsoft YaHei"/>
              </a:defRPr>
            </a:pPr>
            <a:r>
              <a:t>draft→pending→accepted→in_progress→waiting_acceptance→completed/rejected</a:t>
            </a:r>
          </a:p>
        </p:txBody>
      </p:sp>
      <p:sp>
        <p:nvSpPr>
          <p:cNvPr id="10" name="Rounded Rectangle 9"/>
          <p:cNvSpPr/>
          <p:nvPr/>
        </p:nvSpPr>
        <p:spPr>
          <a:xfrm>
            <a:off x="3291840" y="2194560"/>
            <a:ext cx="265176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2304288"/>
            <a:ext cx="2651760" cy="320040"/>
          </a:xfrm>
          <a:prstGeom prst="rect">
            <a:avLst/>
          </a:prstGeom>
          <a:noFill/>
        </p:spPr>
        <p:txBody>
          <a:bodyPr wrap="none">
            <a:spAutoFit/>
          </a:bodyPr>
          <a:lstStyle/>
          <a:p>
            <a:pPr algn="ctr">
              <a:defRPr sz="1300" b="1">
                <a:solidFill>
                  <a:srgbClr val="FFFFFF"/>
                </a:solidFill>
                <a:latin typeface="Microsoft YaHei"/>
              </a:defRPr>
            </a:pPr>
            <a:r>
              <a:t>临时任务</a:t>
            </a:r>
          </a:p>
        </p:txBody>
      </p:sp>
      <p:sp>
        <p:nvSpPr>
          <p:cNvPr id="12" name="TextBox 11"/>
          <p:cNvSpPr txBox="1"/>
          <p:nvPr/>
        </p:nvSpPr>
        <p:spPr>
          <a:xfrm>
            <a:off x="3291840" y="2834640"/>
            <a:ext cx="2651760" cy="457200"/>
          </a:xfrm>
          <a:prstGeom prst="rect">
            <a:avLst/>
          </a:prstGeom>
          <a:noFill/>
        </p:spPr>
        <p:txBody>
          <a:bodyPr wrap="square">
            <a:spAutoFit/>
          </a:bodyPr>
          <a:lstStyle/>
          <a:p>
            <a:pPr>
              <a:defRPr sz="900">
                <a:solidFill>
                  <a:srgbClr val="6B7280"/>
                </a:solidFill>
                <a:latin typeface="Microsoft YaHei"/>
              </a:defRPr>
            </a:pPr>
            <a:r>
              <a:t>创建→派发→执行→验收→完成，支持快速派工</a:t>
            </a:r>
          </a:p>
        </p:txBody>
      </p:sp>
      <p:sp>
        <p:nvSpPr>
          <p:cNvPr id="13" name="Rounded Rectangle 12"/>
          <p:cNvSpPr/>
          <p:nvPr/>
        </p:nvSpPr>
        <p:spPr>
          <a:xfrm>
            <a:off x="6126480" y="2194560"/>
            <a:ext cx="2651760" cy="5486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2304288"/>
            <a:ext cx="2651760" cy="320040"/>
          </a:xfrm>
          <a:prstGeom prst="rect">
            <a:avLst/>
          </a:prstGeom>
          <a:noFill/>
        </p:spPr>
        <p:txBody>
          <a:bodyPr wrap="none">
            <a:spAutoFit/>
          </a:bodyPr>
          <a:lstStyle/>
          <a:p>
            <a:pPr algn="ctr">
              <a:defRPr sz="1300" b="1">
                <a:solidFill>
                  <a:srgbClr val="FFFFFF"/>
                </a:solidFill>
                <a:latin typeface="Microsoft YaHei"/>
              </a:defRPr>
            </a:pPr>
            <a:r>
              <a:t>巡查管理</a:t>
            </a:r>
          </a:p>
        </p:txBody>
      </p:sp>
      <p:sp>
        <p:nvSpPr>
          <p:cNvPr id="15" name="TextBox 14"/>
          <p:cNvSpPr txBox="1"/>
          <p:nvPr/>
        </p:nvSpPr>
        <p:spPr>
          <a:xfrm>
            <a:off x="6126480" y="2834640"/>
            <a:ext cx="2651760" cy="457200"/>
          </a:xfrm>
          <a:prstGeom prst="rect">
            <a:avLst/>
          </a:prstGeom>
          <a:noFill/>
        </p:spPr>
        <p:txBody>
          <a:bodyPr wrap="square">
            <a:spAutoFit/>
          </a:bodyPr>
          <a:lstStyle/>
          <a:p>
            <a:pPr>
              <a:defRPr sz="900">
                <a:solidFill>
                  <a:srgbClr val="6B7280"/>
                </a:solidFill>
                <a:latin typeface="Microsoft YaHei"/>
              </a:defRPr>
            </a:pPr>
            <a:r>
              <a:t>巡查计划→执行→记录→问题上报→整改跟踪</a:t>
            </a:r>
          </a:p>
        </p:txBody>
      </p:sp>
      <p:sp>
        <p:nvSpPr>
          <p:cNvPr id="16" name="Rounded Rectangle 15"/>
          <p:cNvSpPr/>
          <p:nvPr/>
        </p:nvSpPr>
        <p:spPr>
          <a:xfrm>
            <a:off x="8961120" y="2194560"/>
            <a:ext cx="2651760" cy="5486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0" y="2304288"/>
            <a:ext cx="2651760" cy="320040"/>
          </a:xfrm>
          <a:prstGeom prst="rect">
            <a:avLst/>
          </a:prstGeom>
          <a:noFill/>
        </p:spPr>
        <p:txBody>
          <a:bodyPr wrap="none">
            <a:spAutoFit/>
          </a:bodyPr>
          <a:lstStyle/>
          <a:p>
            <a:pPr algn="ctr">
              <a:defRPr sz="1300" b="1">
                <a:solidFill>
                  <a:srgbClr val="FFFFFF"/>
                </a:solidFill>
                <a:latin typeface="Microsoft YaHei"/>
              </a:defRPr>
            </a:pPr>
            <a:r>
              <a:t>问题管理</a:t>
            </a:r>
          </a:p>
        </p:txBody>
      </p:sp>
      <p:sp>
        <p:nvSpPr>
          <p:cNvPr id="18" name="TextBox 17"/>
          <p:cNvSpPr txBox="1"/>
          <p:nvPr/>
        </p:nvSpPr>
        <p:spPr>
          <a:xfrm>
            <a:off x="8961120" y="2834640"/>
            <a:ext cx="2651760" cy="457200"/>
          </a:xfrm>
          <a:prstGeom prst="rect">
            <a:avLst/>
          </a:prstGeom>
          <a:noFill/>
        </p:spPr>
        <p:txBody>
          <a:bodyPr wrap="square">
            <a:spAutoFit/>
          </a:bodyPr>
          <a:lstStyle/>
          <a:p>
            <a:pPr>
              <a:defRPr sz="900">
                <a:solidFill>
                  <a:srgbClr val="6B7280"/>
                </a:solidFill>
                <a:latin typeface="Microsoft YaHei"/>
              </a:defRPr>
            </a:pPr>
            <a:r>
              <a:t>问题发现→上报→分配→整改→验收→闭环</a:t>
            </a:r>
          </a:p>
        </p:txBody>
      </p:sp>
      <p:sp>
        <p:nvSpPr>
          <p:cNvPr id="19" name="TextBox 18"/>
          <p:cNvSpPr txBox="1"/>
          <p:nvPr/>
        </p:nvSpPr>
        <p:spPr>
          <a:xfrm>
            <a:off x="457200" y="3200400"/>
            <a:ext cx="11247120" cy="3291840"/>
          </a:xfrm>
          <a:prstGeom prst="rect">
            <a:avLst/>
          </a:prstGeom>
          <a:noFill/>
        </p:spPr>
        <p:txBody>
          <a:bodyPr wrap="square">
            <a:spAutoFit/>
          </a:bodyPr>
          <a:lstStyle/>
          <a:p>
            <a:pPr>
              <a:spcAft>
                <a:spcPts val="500"/>
              </a:spcAft>
              <a:defRPr sz="1100" b="1">
                <a:solidFill>
                  <a:srgbClr val="2D8B8B"/>
                </a:solidFill>
                <a:latin typeface="Microsoft YaHei"/>
              </a:defRPr>
            </a:pPr>
            <a:r>
              <a:t>【弹窗组件清单（共15+弹窗，源码提取）】</a:t>
            </a:r>
          </a:p>
          <a:p>
            <a:pPr>
              <a:spcAft>
                <a:spcPts val="500"/>
              </a:spcAft>
              <a:defRPr sz="1100">
                <a:solidFill>
                  <a:srgbClr val="1F2937"/>
                </a:solidFill>
                <a:latin typeface="Microsoft YaHei"/>
              </a:defRPr>
            </a:pPr>
            <a:r>
              <a:t>  任务详情(TaskDetailModal) | 任务验收(TaskAcceptanceAdapter) | 问题派工(ProblemDispatchModal)</a:t>
            </a:r>
          </a:p>
          <a:p>
            <a:pPr>
              <a:spcAft>
                <a:spcPts val="500"/>
              </a:spcAft>
              <a:defRPr sz="1100">
                <a:solidFill>
                  <a:srgbClr val="1F2937"/>
                </a:solidFill>
                <a:latin typeface="Microsoft YaHei"/>
              </a:defRPr>
            </a:pPr>
            <a:r>
              <a:t>  巡查详情(InspectionDetailModal) | 选择执行人(SelectExecutorModal) | 创建任务(CreateTaskModal)</a:t>
            </a:r>
          </a:p>
          <a:p>
            <a:pPr>
              <a:spcAft>
                <a:spcPts val="500"/>
              </a:spcAft>
              <a:defRPr sz="1100">
                <a:solidFill>
                  <a:srgbClr val="1F2937"/>
                </a:solidFill>
                <a:latin typeface="Microsoft YaHei"/>
              </a:defRPr>
            </a:pPr>
            <a:r>
              <a:t>  撤回取消(WithdrawCancelAdapter) | 重新派发(ReassignTaskAdapter) | 超时处理(OvertimeHandleAdapter)</a:t>
            </a:r>
          </a:p>
          <a:p>
            <a:pPr>
              <a:spcAft>
                <a:spcPts val="500"/>
              </a:spcAft>
              <a:defRPr sz="1100">
                <a:solidFill>
                  <a:srgbClr val="1F2937"/>
                </a:solidFill>
                <a:latin typeface="Microsoft YaHei"/>
              </a:defRPr>
            </a:pPr>
            <a:r>
              <a:t>  删除警告(DeleteWarningAdapter) | 导出格式(ExportFormatAdapter) | 批量编辑(BatchEditAdapter)</a:t>
            </a:r>
          </a:p>
          <a:p>
            <a:pPr>
              <a:spcAft>
                <a:spcPts val="500"/>
              </a:spcAft>
              <a:defRPr sz="1100">
                <a:solidFill>
                  <a:srgbClr val="1F2937"/>
                </a:solidFill>
                <a:latin typeface="Microsoft YaHei"/>
              </a:defRPr>
            </a:pPr>
            <a:r>
              <a:t>  批量导入(BatchImportModal) | AI推荐(AIRecommendationPanel)</a:t>
            </a:r>
          </a:p>
          <a:p>
            <a:pPr>
              <a:spcAft>
                <a:spcPts val="500"/>
              </a:spcAft>
              <a:defRPr sz="1100">
                <a:solidFill>
                  <a:srgbClr val="1F2937"/>
                </a:solidFill>
                <a:latin typeface="Microsoft YaHei"/>
              </a:defRPr>
            </a:pPr>
          </a:p>
          <a:p>
            <a:pPr>
              <a:spcAft>
                <a:spcPts val="500"/>
              </a:spcAft>
              <a:defRPr sz="1100" b="1">
                <a:solidFill>
                  <a:srgbClr val="2D8B8B"/>
                </a:solidFill>
                <a:latin typeface="Microsoft YaHei"/>
              </a:defRPr>
            </a:pPr>
            <a:r>
              <a:t>【状态转换API（farmTask.ts源码提取，共13个端点）】</a:t>
            </a:r>
          </a:p>
          <a:p>
            <a:pPr>
              <a:spcAft>
                <a:spcPts val="500"/>
              </a:spcAft>
              <a:defRPr sz="1100">
                <a:solidFill>
                  <a:srgbClr val="1F2937"/>
                </a:solidFill>
                <a:latin typeface="Microsoft YaHei"/>
              </a:defRPr>
            </a:pPr>
            <a:r>
              <a:t>  POST /:id/publish(发布) | withdraw(撤回) | accept(接受) | start(开始) | progress(进度)</a:t>
            </a:r>
          </a:p>
          <a:p>
            <a:pPr>
              <a:spcAft>
                <a:spcPts val="500"/>
              </a:spcAft>
              <a:defRPr sz="1100">
                <a:solidFill>
                  <a:srgbClr val="1F2937"/>
                </a:solidFill>
                <a:latin typeface="Microsoft YaHei"/>
              </a:defRPr>
            </a:pPr>
            <a:r>
              <a:t>  submit-acceptance(提交验收) | complete(完成) | reject(驳回/返工, rework_count&gt;2→failed) | cancel(取消)</a:t>
            </a:r>
          </a:p>
          <a:p>
            <a:pPr>
              <a:spcAft>
                <a:spcPts val="500"/>
              </a:spcAft>
              <a:defRPr sz="1100">
                <a:solidFill>
                  <a:srgbClr val="1F2937"/>
                </a:solidFill>
                <a:latin typeface="Microsoft YaHei"/>
              </a:defRPr>
            </a:pPr>
            <a:r>
              <a:t>  abandon(废弃) | overtime-continue(超时续办) | reassign(重新指派) | extend-deadline(延期) | remind(提醒)</a:t>
            </a:r>
          </a:p>
          <a:p>
            <a:pPr>
              <a:spcAft>
                <a:spcPts val="500"/>
              </a:spcAft>
              <a:defRPr sz="1100">
                <a:solidFill>
                  <a:srgbClr val="1F2937"/>
                </a:solidFill>
                <a:latin typeface="Microsoft YaHei"/>
              </a:defRPr>
            </a:pPr>
          </a:p>
          <a:p>
            <a:pPr>
              <a:spcAft>
                <a:spcPts val="500"/>
              </a:spcAft>
              <a:defRPr sz="1100" b="1">
                <a:solidFill>
                  <a:srgbClr val="2D8B8B"/>
                </a:solidFill>
                <a:latin typeface="Microsoft YaHei"/>
              </a:defRPr>
            </a:pPr>
            <a:r>
              <a:t>【顶部快捷入口】 智能派工(SmartDispatch) | 每日规划(DailyPlanning) | 月度规划(MonthlyPlanning)</a:t>
            </a:r>
          </a:p>
          <a:p>
            <a:pPr>
              <a:spcAft>
                <a:spcPts val="500"/>
              </a:spcAft>
              <a:defRPr sz="1100" b="1">
                <a:solidFill>
                  <a:srgbClr val="2D8B8B"/>
                </a:solidFill>
                <a:latin typeface="Microsoft YaHei"/>
              </a:defRPr>
            </a:pPr>
            <a:r>
              <a:t>【批量操作】 批量派工 | 批量接受 | 批量删除 | 批量编辑 | 批量导入 | 导出</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农事管理 - 任务派发与智能规划</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TASK DISPATCH &amp; AI PLANNING  |  基于SmartDispatch/DailyPlanning代码</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548640"/>
          </a:xfrm>
          <a:prstGeom prst="rect">
            <a:avLst/>
          </a:prstGeom>
          <a:noFill/>
        </p:spPr>
        <p:txBody>
          <a:bodyPr wrap="square">
            <a:spAutoFit/>
          </a:bodyPr>
          <a:lstStyle/>
          <a:p>
            <a:pPr>
              <a:lnSpc>
                <a:spcPct val="150000"/>
              </a:lnSpc>
              <a:defRPr sz="1200">
                <a:solidFill>
                  <a:srgbClr val="1F2937"/>
                </a:solidFill>
                <a:latin typeface="Microsoft YaHei"/>
              </a:defRPr>
            </a:pPr>
            <a:r>
              <a:t>系统提供人工派发和AI辅助两种任务派发模式，以及日/月度自动规划功能，实现农事任务的高效分配与执行跟踪。</a:t>
            </a:r>
          </a:p>
        </p:txBody>
      </p:sp>
      <p:graphicFrame>
        <p:nvGraphicFramePr>
          <p:cNvPr id="7" name="Table 6"/>
          <p:cNvGraphicFramePr>
            <a:graphicFrameLocks noGrp="1"/>
          </p:cNvGraphicFramePr>
          <p:nvPr/>
        </p:nvGraphicFramePr>
        <p:xfrm>
          <a:off x="457200" y="2011680"/>
          <a:ext cx="11247120" cy="2743200"/>
        </p:xfrm>
        <a:graphic>
          <a:graphicData uri="http://schemas.openxmlformats.org/drawingml/2006/table">
            <a:tbl>
              <a:tblPr firstRow="1" bandRow="1">
                <a:tableStyleId>{5C22544A-7EE6-4342-B048-85BDC9FD1C3A}</a:tableStyleId>
              </a:tblPr>
              <a:tblGrid>
                <a:gridCol w="2811780"/>
                <a:gridCol w="2811780"/>
                <a:gridCol w="2811780"/>
                <a:gridCol w="2811780"/>
              </a:tblGrid>
              <a:tr h="685800">
                <a:tc>
                  <a:txBody>
                    <a:bodyPr/>
                    <a:lstStyle/>
                    <a:p>
                      <a:r>
                        <a:t>功能</a:t>
                      </a:r>
                    </a:p>
                  </a:txBody>
                  <a:tcPr>
                    <a:solidFill>
                      <a:srgbClr val="1A565E"/>
                    </a:solidFill>
                  </a:tcPr>
                </a:tc>
                <a:tc>
                  <a:txBody>
                    <a:bodyPr/>
                    <a:lstStyle/>
                    <a:p>
                      <a:r>
                        <a:t>组件/路由</a:t>
                      </a:r>
                    </a:p>
                  </a:txBody>
                  <a:tcPr>
                    <a:solidFill>
                      <a:srgbClr val="1A565E"/>
                    </a:solidFill>
                  </a:tcPr>
                </a:tc>
                <a:tc>
                  <a:txBody>
                    <a:bodyPr/>
                    <a:lstStyle/>
                    <a:p>
                      <a:r>
                        <a:t>前端能力</a:t>
                      </a:r>
                    </a:p>
                  </a:txBody>
                  <a:tcPr>
                    <a:solidFill>
                      <a:srgbClr val="1A565E"/>
                    </a:solidFill>
                  </a:tcPr>
                </a:tc>
                <a:tc>
                  <a:txBody>
                    <a:bodyPr/>
                    <a:lstStyle/>
                    <a:p>
                      <a:r>
                        <a:t>后端API</a:t>
                      </a:r>
                    </a:p>
                  </a:txBody>
                  <a:tcPr>
                    <a:solidFill>
                      <a:srgbClr val="1A565E"/>
                    </a:solidFill>
                  </a:tcPr>
                </a:tc>
              </a:tr>
              <a:tr h="685800">
                <a:tc>
                  <a:txBody>
                    <a:bodyPr/>
                    <a:lstStyle/>
                    <a:p>
                      <a:r>
                        <a:t>智能派工</a:t>
                      </a:r>
                    </a:p>
                  </a:txBody>
                  <a:tcPr>
                    <a:solidFill>
                      <a:srgbClr val="FFFFFF"/>
                    </a:solidFill>
                  </a:tcPr>
                </a:tc>
                <a:tc>
                  <a:txBody>
                    <a:bodyPr/>
                    <a:lstStyle/>
                    <a:p>
                      <a:r>
                        <a:t>SmartDispatch(懒加载)</a:t>
                      </a:r>
                    </a:p>
                  </a:txBody>
                  <a:tcPr>
                    <a:solidFill>
                      <a:srgbClr val="FFFFFF"/>
                    </a:solidFill>
                  </a:tcPr>
                </a:tc>
                <a:tc>
                  <a:txBody>
                    <a:bodyPr/>
                    <a:lstStyle/>
                    <a:p>
                      <a:r>
                        <a:t>AI推荐执行人、手动选择、批量派工、优先级计算</a:t>
                      </a:r>
                    </a:p>
                  </a:txBody>
                  <a:tcPr>
                    <a:solidFill>
                      <a:srgbClr val="FFFFFF"/>
                    </a:solidFill>
                  </a:tcPr>
                </a:tc>
                <a:tc>
                  <a:txBody>
                    <a:bodyPr/>
                    <a:lstStyle/>
                    <a:p>
                      <a:r>
                        <a:t>farm-tasks/:id/publish, /:id/reassign</a:t>
                      </a:r>
                    </a:p>
                  </a:txBody>
                  <a:tcPr>
                    <a:solidFill>
                      <a:srgbClr val="FFFFFF"/>
                    </a:solidFill>
                  </a:tcPr>
                </a:tc>
              </a:tr>
              <a:tr h="685800">
                <a:tc>
                  <a:txBody>
                    <a:bodyPr/>
                    <a:lstStyle/>
                    <a:p>
                      <a:r>
                        <a:t>每日规划</a:t>
                      </a:r>
                    </a:p>
                  </a:txBody>
                  <a:tcPr>
                    <a:solidFill>
                      <a:srgbClr val="F3F4F6"/>
                    </a:solidFill>
                  </a:tcPr>
                </a:tc>
                <a:tc>
                  <a:txBody>
                    <a:bodyPr/>
                    <a:lstStyle/>
                    <a:p>
                      <a:r>
                        <a:t>DailyPlanningPage(懒加载)</a:t>
                      </a:r>
                    </a:p>
                  </a:txBody>
                  <a:tcPr>
                    <a:solidFill>
                      <a:srgbClr val="F3F4F6"/>
                    </a:solidFill>
                  </a:tcPr>
                </a:tc>
                <a:tc>
                  <a:txBody>
                    <a:bodyPr/>
                    <a:lstStyle/>
                    <a:p>
                      <a:r>
                        <a:t>日历视图、每日任务编排、工时预估</a:t>
                      </a:r>
                    </a:p>
                  </a:txBody>
                  <a:tcPr>
                    <a:solidFill>
                      <a:srgbClr val="F3F4F6"/>
                    </a:solidFill>
                  </a:tcPr>
                </a:tc>
                <a:tc>
                  <a:txBody>
                    <a:bodyPr/>
                    <a:lstStyle/>
                    <a:p>
                      <a:r>
                        <a:t>farm-tasks/stats, /pending, /in-progress</a:t>
                      </a:r>
                    </a:p>
                  </a:txBody>
                  <a:tcPr>
                    <a:solidFill>
                      <a:srgbClr val="F3F4F6"/>
                    </a:solidFill>
                  </a:tcPr>
                </a:tc>
              </a:tr>
              <a:tr h="685800">
                <a:tc>
                  <a:txBody>
                    <a:bodyPr/>
                    <a:lstStyle/>
                    <a:p>
                      <a:r>
                        <a:t>月度规划</a:t>
                      </a:r>
                    </a:p>
                  </a:txBody>
                  <a:tcPr>
                    <a:solidFill>
                      <a:srgbClr val="FFFFFF"/>
                    </a:solidFill>
                  </a:tcPr>
                </a:tc>
                <a:tc>
                  <a:txBody>
                    <a:bodyPr/>
                    <a:lstStyle/>
                    <a:p>
                      <a:r>
                        <a:t>MonthlyPlanningPage(懒加载)</a:t>
                      </a:r>
                    </a:p>
                  </a:txBody>
                  <a:tcPr>
                    <a:solidFill>
                      <a:srgbClr val="FFFFFF"/>
                    </a:solidFill>
                  </a:tcPr>
                </a:tc>
                <a:tc>
                  <a:txBody>
                    <a:bodyPr/>
                    <a:lstStyle/>
                    <a:p>
                      <a:r>
                        <a:t>甘特图视图、月度任务分布、资源负载分析</a:t>
                      </a:r>
                    </a:p>
                  </a:txBody>
                  <a:tcPr>
                    <a:solidFill>
                      <a:srgbClr val="FFFFFF"/>
                    </a:solidFill>
                  </a:tcPr>
                </a:tc>
                <a:tc>
                  <a:txBody>
                    <a:bodyPr/>
                    <a:lstStyle/>
                    <a:p>
                      <a:r>
                        <a:t>farm-tasks/stats, /overdue</a:t>
                      </a:r>
                    </a:p>
                  </a:txBody>
                  <a:tcPr>
                    <a:solidFill>
                      <a:srgbClr val="FFFFFF"/>
                    </a:solidFill>
                  </a:tcPr>
                </a:tc>
              </a:tr>
            </a:tbl>
          </a:graphicData>
        </a:graphic>
      </p:graphicFrame>
      <p:sp>
        <p:nvSpPr>
          <p:cNvPr id="8" name="TextBox 7"/>
          <p:cNvSpPr txBox="1"/>
          <p:nvPr/>
        </p:nvSpPr>
        <p:spPr>
          <a:xfrm>
            <a:off x="457200" y="4937760"/>
            <a:ext cx="11247120" cy="1645920"/>
          </a:xfrm>
          <a:prstGeom prst="rect">
            <a:avLst/>
          </a:prstGeom>
          <a:noFill/>
        </p:spPr>
        <p:txBody>
          <a:bodyPr wrap="square">
            <a:spAutoFit/>
          </a:bodyPr>
          <a:lstStyle/>
          <a:p>
            <a:pPr>
              <a:spcAft>
                <a:spcPts val="500"/>
              </a:spcAft>
              <a:defRPr sz="1100" b="1">
                <a:solidFill>
                  <a:srgbClr val="2D8B8B"/>
                </a:solidFill>
                <a:latin typeface="Microsoft YaHei"/>
              </a:defRPr>
            </a:pPr>
            <a:r>
              <a:t>【AI辅助决策（基于FarmTaskHub.tsx useState提取）】</a:t>
            </a:r>
          </a:p>
          <a:p>
            <a:pPr>
              <a:spcAft>
                <a:spcPts val="500"/>
              </a:spcAft>
              <a:defRPr sz="1100">
                <a:solidFill>
                  <a:srgbClr val="1F2937"/>
                </a:solidFill>
                <a:latin typeface="Microsoft YaHei"/>
              </a:defRPr>
            </a:pPr>
            <a:r>
              <a:t>  AI推荐面板(AIRecommendationPanel): 根据作物类型、技能要求、人员当前负载、历史绩效自动推荐最优执行人</a:t>
            </a:r>
          </a:p>
          <a:p>
            <a:pPr>
              <a:spcAft>
                <a:spcPts val="500"/>
              </a:spcAft>
              <a:defRPr sz="1100">
                <a:solidFill>
                  <a:srgbClr val="1F2937"/>
                </a:solidFill>
                <a:latin typeface="Microsoft YaHei"/>
              </a:defRPr>
            </a:pPr>
            <a:r>
              <a:t>  模式切换: dispatchMode = 'manual' | 'ai_assisted'</a:t>
            </a:r>
          </a:p>
          <a:p>
            <a:pPr>
              <a:spcAft>
                <a:spcPts val="500"/>
              </a:spcAft>
              <a:defRPr sz="1100">
                <a:solidFill>
                  <a:srgbClr val="1F2937"/>
                </a:solidFill>
                <a:latin typeface="Microsoft YaHei"/>
              </a:defRPr>
            </a:pPr>
          </a:p>
          <a:p>
            <a:pPr>
              <a:spcAft>
                <a:spcPts val="500"/>
              </a:spcAft>
              <a:defRPr sz="1100" b="1">
                <a:solidFill>
                  <a:srgbClr val="2D8B8B"/>
                </a:solidFill>
                <a:latin typeface="Microsoft YaHei"/>
              </a:defRPr>
            </a:pPr>
            <a:r>
              <a:t>【任务统计API（从farmTask.ts提取）】</a:t>
            </a:r>
          </a:p>
          <a:p>
            <a:pPr>
              <a:spcAft>
                <a:spcPts val="500"/>
              </a:spcAft>
              <a:defRPr sz="1100">
                <a:solidFill>
                  <a:srgbClr val="1F2937"/>
                </a:solidFill>
                <a:latin typeface="Microsoft YaHei"/>
              </a:defRPr>
            </a:pPr>
            <a:r>
              <a:t>  GET /stats — 任务数量统计 | /overdue — 逾期任务 | /pending — 待处理 | /in-progress — 进行中 | /waiting-acceptance — 待验收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库存管理模块</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INVENTORY MANAGEMENT  |  基于Materials.tsx及后端inventory路由代码提取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640080"/>
          </a:xfrm>
          <a:prstGeom prst="rect">
            <a:avLst/>
          </a:prstGeom>
          <a:noFill/>
        </p:spPr>
        <p:txBody>
          <a:bodyPr wrap="square">
            <a:spAutoFit/>
          </a:bodyPr>
          <a:lstStyle/>
          <a:p>
            <a:pPr>
              <a:lnSpc>
                <a:spcPct val="150000"/>
              </a:lnSpc>
              <a:defRPr sz="1200">
                <a:solidFill>
                  <a:srgbClr val="1F2937"/>
                </a:solidFill>
                <a:latin typeface="Microsoft YaHei"/>
              </a:defRPr>
            </a:pPr>
            <a:r>
              <a:t>库存管理模块覆盖农业生产全链路物料管理，包含仓库总览、物料入库、生产领料退料、供应商管理和产品库存。Materials.tsx为聚合组件，各子模块独立实现。</a:t>
            </a:r>
          </a:p>
        </p:txBody>
      </p:sp>
      <p:graphicFrame>
        <p:nvGraphicFramePr>
          <p:cNvPr id="7" name="Table 6"/>
          <p:cNvGraphicFramePr>
            <a:graphicFrameLocks noGrp="1"/>
          </p:cNvGraphicFramePr>
          <p:nvPr/>
        </p:nvGraphicFramePr>
        <p:xfrm>
          <a:off x="457200" y="2194560"/>
          <a:ext cx="11247120" cy="4114800"/>
        </p:xfrm>
        <a:graphic>
          <a:graphicData uri="http://schemas.openxmlformats.org/drawingml/2006/table">
            <a:tbl>
              <a:tblPr firstRow="1" bandRow="1">
                <a:tableStyleId>{5C22544A-7EE6-4342-B048-85BDC9FD1C3A}</a:tableStyleId>
              </a:tblPr>
              <a:tblGrid>
                <a:gridCol w="2811780"/>
                <a:gridCol w="2811780"/>
                <a:gridCol w="2811780"/>
                <a:gridCol w="2811780"/>
              </a:tblGrid>
              <a:tr h="587828">
                <a:tc>
                  <a:txBody>
                    <a:bodyPr/>
                    <a:lstStyle/>
                    <a:p>
                      <a:r>
                        <a:t>功能</a:t>
                      </a:r>
                    </a:p>
                  </a:txBody>
                  <a:tcPr>
                    <a:solidFill>
                      <a:srgbClr val="1A565E"/>
                    </a:solidFill>
                  </a:tcPr>
                </a:tc>
                <a:tc>
                  <a:txBody>
                    <a:bodyPr/>
                    <a:lstStyle/>
                    <a:p>
                      <a:r>
                        <a:t>路径</a:t>
                      </a:r>
                    </a:p>
                  </a:txBody>
                  <a:tcPr>
                    <a:solidFill>
                      <a:srgbClr val="1A565E"/>
                    </a:solidFill>
                  </a:tcPr>
                </a:tc>
                <a:tc>
                  <a:txBody>
                    <a:bodyPr/>
                    <a:lstStyle/>
                    <a:p>
                      <a:r>
                        <a:t>关键表</a:t>
                      </a:r>
                    </a:p>
                  </a:txBody>
                  <a:tcPr>
                    <a:solidFill>
                      <a:srgbClr val="1A565E"/>
                    </a:solidFill>
                  </a:tcPr>
                </a:tc>
                <a:tc>
                  <a:txBody>
                    <a:bodyPr/>
                    <a:lstStyle/>
                    <a:p>
                      <a:r>
                        <a:t>核心能力</a:t>
                      </a:r>
                    </a:p>
                  </a:txBody>
                  <a:tcPr>
                    <a:solidFill>
                      <a:srgbClr val="1A565E"/>
                    </a:solidFill>
                  </a:tcPr>
                </a:tc>
              </a:tr>
              <a:tr h="587828">
                <a:tc>
                  <a:txBody>
                    <a:bodyPr/>
                    <a:lstStyle/>
                    <a:p>
                      <a:r>
                        <a:t>仓库总览</a:t>
                      </a:r>
                    </a:p>
                  </a:txBody>
                  <a:tcPr>
                    <a:solidFill>
                      <a:srgbClr val="FFFFFF"/>
                    </a:solidFill>
                  </a:tcPr>
                </a:tc>
                <a:tc>
                  <a:txBody>
                    <a:bodyPr/>
                    <a:lstStyle/>
                    <a:p>
                      <a:r>
                        <a:t>/materials</a:t>
                      </a:r>
                    </a:p>
                  </a:txBody>
                  <a:tcPr>
                    <a:solidFill>
                      <a:srgbClr val="FFFFFF"/>
                    </a:solidFill>
                  </a:tcPr>
                </a:tc>
                <a:tc>
                  <a:txBody>
                    <a:bodyPr/>
                    <a:lstStyle/>
                    <a:p>
                      <a:r>
                        <a:t>warehouses</a:t>
                      </a:r>
                    </a:p>
                  </a:txBody>
                  <a:tcPr>
                    <a:solidFill>
                      <a:srgbClr val="FFFFFF"/>
                    </a:solidFill>
                  </a:tcPr>
                </a:tc>
                <a:tc>
                  <a:txBody>
                    <a:bodyPr/>
                    <a:lstStyle/>
                    <a:p>
                      <a:r>
                        <a:t>仓库定义、容量管理、库存预警</a:t>
                      </a:r>
                    </a:p>
                  </a:txBody>
                  <a:tcPr>
                    <a:solidFill>
                      <a:srgbClr val="FFFFFF"/>
                    </a:solidFill>
                  </a:tcPr>
                </a:tc>
              </a:tr>
              <a:tr h="587828">
                <a:tc>
                  <a:txBody>
                    <a:bodyPr/>
                    <a:lstStyle/>
                    <a:p>
                      <a:r>
                        <a:t>物料入库</a:t>
                      </a:r>
                    </a:p>
                  </a:txBody>
                  <a:tcPr>
                    <a:solidFill>
                      <a:srgbClr val="F3F4F6"/>
                    </a:solidFill>
                  </a:tcPr>
                </a:tc>
                <a:tc>
                  <a:txBody>
                    <a:bodyPr/>
                    <a:lstStyle/>
                    <a:p>
                      <a:r>
                        <a:t>/warehouse-inbound</a:t>
                      </a:r>
                    </a:p>
                  </a:txBody>
                  <a:tcPr>
                    <a:solidFill>
                      <a:srgbClr val="F3F4F6"/>
                    </a:solidFill>
                  </a:tcPr>
                </a:tc>
                <a:tc>
                  <a:txBody>
                    <a:bodyPr/>
                    <a:lstStyle/>
                    <a:p>
                      <a:r>
                        <a:t>inbound_records, materials</a:t>
                      </a:r>
                    </a:p>
                  </a:txBody>
                  <a:tcPr>
                    <a:solidFill>
                      <a:srgbClr val="F3F4F6"/>
                    </a:solidFill>
                  </a:tcPr>
                </a:tc>
                <a:tc>
                  <a:txBody>
                    <a:bodyPr/>
                    <a:lstStyle/>
                    <a:p>
                      <a:r>
                        <a:t>采购入库、检验、批次管理、库存增加</a:t>
                      </a:r>
                    </a:p>
                  </a:txBody>
                  <a:tcPr>
                    <a:solidFill>
                      <a:srgbClr val="F3F4F6"/>
                    </a:solidFill>
                  </a:tcPr>
                </a:tc>
              </a:tr>
              <a:tr h="587828">
                <a:tc>
                  <a:txBody>
                    <a:bodyPr/>
                    <a:lstStyle/>
                    <a:p>
                      <a:r>
                        <a:t>供应商管理</a:t>
                      </a:r>
                    </a:p>
                  </a:txBody>
                  <a:tcPr>
                    <a:solidFill>
                      <a:srgbClr val="FFFFFF"/>
                    </a:solidFill>
                  </a:tcPr>
                </a:tc>
                <a:tc>
                  <a:txBody>
                    <a:bodyPr/>
                    <a:lstStyle/>
                    <a:p>
                      <a:r>
                        <a:t>/supplier-management</a:t>
                      </a:r>
                    </a:p>
                  </a:txBody>
                  <a:tcPr>
                    <a:solidFill>
                      <a:srgbClr val="FFFFFF"/>
                    </a:solidFill>
                  </a:tcPr>
                </a:tc>
                <a:tc>
                  <a:txBody>
                    <a:bodyPr/>
                    <a:lstStyle/>
                    <a:p>
                      <a:r>
                        <a:t>suppliers</a:t>
                      </a:r>
                    </a:p>
                  </a:txBody>
                  <a:tcPr>
                    <a:solidFill>
                      <a:srgbClr val="FFFFFF"/>
                    </a:solidFill>
                  </a:tcPr>
                </a:tc>
                <a:tc>
                  <a:txBody>
                    <a:bodyPr/>
                    <a:lstStyle/>
                    <a:p>
                      <a:r>
                        <a:t>供应商档案、评级、关联采购记录</a:t>
                      </a:r>
                    </a:p>
                  </a:txBody>
                  <a:tcPr>
                    <a:solidFill>
                      <a:srgbClr val="FFFFFF"/>
                    </a:solidFill>
                  </a:tcPr>
                </a:tc>
              </a:tr>
              <a:tr h="587828">
                <a:tc>
                  <a:txBody>
                    <a:bodyPr/>
                    <a:lstStyle/>
                    <a:p>
                      <a:r>
                        <a:t>生产领料</a:t>
                      </a:r>
                    </a:p>
                  </a:txBody>
                  <a:tcPr>
                    <a:solidFill>
                      <a:srgbClr val="F3F4F6"/>
                    </a:solidFill>
                  </a:tcPr>
                </a:tc>
                <a:tc>
                  <a:txBody>
                    <a:bodyPr/>
                    <a:lstStyle/>
                    <a:p>
                      <a:r>
                        <a:t>/material-receiving</a:t>
                      </a:r>
                    </a:p>
                  </a:txBody>
                  <a:tcPr>
                    <a:solidFill>
                      <a:srgbClr val="F3F4F6"/>
                    </a:solidFill>
                  </a:tcPr>
                </a:tc>
                <a:tc>
                  <a:txBody>
                    <a:bodyPr/>
                    <a:lstStyle/>
                    <a:p>
                      <a:r>
                        <a:t>material_requests</a:t>
                      </a:r>
                    </a:p>
                  </a:txBody>
                  <a:tcPr>
                    <a:solidFill>
                      <a:srgbClr val="F3F4F6"/>
                    </a:solidFill>
                  </a:tcPr>
                </a:tc>
                <a:tc>
                  <a:txBody>
                    <a:bodyPr/>
                    <a:lstStyle/>
                    <a:p>
                      <a:r>
                        <a:t>领料申请、审批、出库、消耗记录</a:t>
                      </a:r>
                    </a:p>
                  </a:txBody>
                  <a:tcPr>
                    <a:solidFill>
                      <a:srgbClr val="F3F4F6"/>
                    </a:solidFill>
                  </a:tcPr>
                </a:tc>
              </a:tr>
              <a:tr h="587828">
                <a:tc>
                  <a:txBody>
                    <a:bodyPr/>
                    <a:lstStyle/>
                    <a:p>
                      <a:r>
                        <a:t>生产退料</a:t>
                      </a:r>
                    </a:p>
                  </a:txBody>
                  <a:tcPr>
                    <a:solidFill>
                      <a:srgbClr val="FFFFFF"/>
                    </a:solidFill>
                  </a:tcPr>
                </a:tc>
                <a:tc>
                  <a:txBody>
                    <a:bodyPr/>
                    <a:lstStyle/>
                    <a:p>
                      <a:r>
                        <a:t>/material-return</a:t>
                      </a:r>
                    </a:p>
                  </a:txBody>
                  <a:tcPr>
                    <a:solidFill>
                      <a:srgbClr val="FFFFFF"/>
                    </a:solidFill>
                  </a:tcPr>
                </a:tc>
                <a:tc>
                  <a:txBody>
                    <a:bodyPr/>
                    <a:lstStyle/>
                    <a:p>
                      <a:r>
                        <a:t>inventory</a:t>
                      </a:r>
                    </a:p>
                  </a:txBody>
                  <a:tcPr>
                    <a:solidFill>
                      <a:srgbClr val="FFFFFF"/>
                    </a:solidFill>
                  </a:tcPr>
                </a:tc>
                <a:tc>
                  <a:txBody>
                    <a:bodyPr/>
                    <a:lstStyle/>
                    <a:p>
                      <a:r>
                        <a:t>退料申请、质量判定、回库处理</a:t>
                      </a:r>
                    </a:p>
                  </a:txBody>
                  <a:tcPr>
                    <a:solidFill>
                      <a:srgbClr val="FFFFFF"/>
                    </a:solidFill>
                  </a:tcPr>
                </a:tc>
              </a:tr>
              <a:tr h="587832">
                <a:tc>
                  <a:txBody>
                    <a:bodyPr/>
                    <a:lstStyle/>
                    <a:p>
                      <a:r>
                        <a:t>产品库存</a:t>
                      </a:r>
                    </a:p>
                  </a:txBody>
                  <a:tcPr>
                    <a:solidFill>
                      <a:srgbClr val="F3F4F6"/>
                    </a:solidFill>
                  </a:tcPr>
                </a:tc>
                <a:tc>
                  <a:txBody>
                    <a:bodyPr/>
                    <a:lstStyle/>
                    <a:p>
                      <a:r>
                        <a:t>/crop-inventory</a:t>
                      </a:r>
                    </a:p>
                  </a:txBody>
                  <a:tcPr>
                    <a:solidFill>
                      <a:srgbClr val="F3F4F6"/>
                    </a:solidFill>
                  </a:tcPr>
                </a:tc>
                <a:tc>
                  <a:txBody>
                    <a:bodyPr/>
                    <a:lstStyle/>
                    <a:p>
                      <a:r>
                        <a:t>inventory</a:t>
                      </a:r>
                    </a:p>
                  </a:txBody>
                  <a:tcPr>
                    <a:solidFill>
                      <a:srgbClr val="F3F4F6"/>
                    </a:solidFill>
                  </a:tcPr>
                </a:tc>
                <a:tc>
                  <a:txBody>
                    <a:bodyPr/>
                    <a:lstStyle/>
                    <a:p>
                      <a:r>
                        <a:t>采收产品入库、库存查询、出入库记录</a:t>
                      </a:r>
                    </a:p>
                  </a:txBody>
                  <a:tcPr>
                    <a:solidFill>
                      <a:srgbClr val="F3F4F6"/>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人工管理模块</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LABOR MANAGEMENT  |  基于AttendancePage/PersonnelPage/CompensationPage代码提取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548640"/>
          </a:xfrm>
          <a:prstGeom prst="rect">
            <a:avLst/>
          </a:prstGeom>
          <a:noFill/>
        </p:spPr>
        <p:txBody>
          <a:bodyPr wrap="square">
            <a:spAutoFit/>
          </a:bodyPr>
          <a:lstStyle/>
          <a:p>
            <a:pPr>
              <a:lnSpc>
                <a:spcPct val="150000"/>
              </a:lnSpc>
              <a:defRPr sz="1200">
                <a:solidFill>
                  <a:srgbClr val="1F2937"/>
                </a:solidFill>
                <a:latin typeface="Microsoft YaHei"/>
              </a:defRPr>
            </a:pPr>
            <a:r>
              <a:t>人工管理模块是系统的人力支撑核心，覆盖考勤、排班、请假、加班、人事档案、薪酬核算和运营分析。</a:t>
            </a:r>
          </a:p>
        </p:txBody>
      </p:sp>
      <p:graphicFrame>
        <p:nvGraphicFramePr>
          <p:cNvPr id="7" name="Table 6"/>
          <p:cNvGraphicFramePr>
            <a:graphicFrameLocks noGrp="1"/>
          </p:cNvGraphicFramePr>
          <p:nvPr/>
        </p:nvGraphicFramePr>
        <p:xfrm>
          <a:off x="457200" y="2011680"/>
          <a:ext cx="11247120" cy="4572000"/>
        </p:xfrm>
        <a:graphic>
          <a:graphicData uri="http://schemas.openxmlformats.org/drawingml/2006/table">
            <a:tbl>
              <a:tblPr firstRow="1" bandRow="1">
                <a:tableStyleId>{5C22544A-7EE6-4342-B048-85BDC9FD1C3A}</a:tableStyleId>
              </a:tblPr>
              <a:tblGrid>
                <a:gridCol w="2811780"/>
                <a:gridCol w="2811780"/>
                <a:gridCol w="2811780"/>
                <a:gridCol w="2811780"/>
              </a:tblGrid>
              <a:tr h="571500">
                <a:tc>
                  <a:txBody>
                    <a:bodyPr/>
                    <a:lstStyle/>
                    <a:p>
                      <a:r>
                        <a:t>功能</a:t>
                      </a:r>
                    </a:p>
                  </a:txBody>
                  <a:tcPr>
                    <a:solidFill>
                      <a:srgbClr val="1A565E"/>
                    </a:solidFill>
                  </a:tcPr>
                </a:tc>
                <a:tc>
                  <a:txBody>
                    <a:bodyPr/>
                    <a:lstStyle/>
                    <a:p>
                      <a:r>
                        <a:t>路径</a:t>
                      </a:r>
                    </a:p>
                  </a:txBody>
                  <a:tcPr>
                    <a:solidFill>
                      <a:srgbClr val="1A565E"/>
                    </a:solidFill>
                  </a:tcPr>
                </a:tc>
                <a:tc>
                  <a:txBody>
                    <a:bodyPr/>
                    <a:lstStyle/>
                    <a:p>
                      <a:r>
                        <a:t>关键表</a:t>
                      </a:r>
                    </a:p>
                  </a:txBody>
                  <a:tcPr>
                    <a:solidFill>
                      <a:srgbClr val="1A565E"/>
                    </a:solidFill>
                  </a:tcPr>
                </a:tc>
                <a:tc>
                  <a:txBody>
                    <a:bodyPr/>
                    <a:lstStyle/>
                    <a:p>
                      <a:r>
                        <a:t>核心能力</a:t>
                      </a:r>
                    </a:p>
                  </a:txBody>
                  <a:tcPr>
                    <a:solidFill>
                      <a:srgbClr val="1A565E"/>
                    </a:solidFill>
                  </a:tcPr>
                </a:tc>
              </a:tr>
              <a:tr h="571500">
                <a:tc>
                  <a:txBody>
                    <a:bodyPr/>
                    <a:lstStyle/>
                    <a:p>
                      <a:r>
                        <a:t>考勤管理</a:t>
                      </a:r>
                    </a:p>
                  </a:txBody>
                  <a:tcPr>
                    <a:solidFill>
                      <a:srgbClr val="FFFFFF"/>
                    </a:solidFill>
                  </a:tcPr>
                </a:tc>
                <a:tc>
                  <a:txBody>
                    <a:bodyPr/>
                    <a:lstStyle/>
                    <a:p>
                      <a:r>
                        <a:t>/labor/attendance</a:t>
                      </a:r>
                    </a:p>
                  </a:txBody>
                  <a:tcPr>
                    <a:solidFill>
                      <a:srgbClr val="FFFFFF"/>
                    </a:solidFill>
                  </a:tcPr>
                </a:tc>
                <a:tc>
                  <a:txBody>
                    <a:bodyPr/>
                    <a:lstStyle/>
                    <a:p>
                      <a:r>
                        <a:t>attendance_records</a:t>
                      </a:r>
                    </a:p>
                  </a:txBody>
                  <a:tcPr>
                    <a:solidFill>
                      <a:srgbClr val="FFFFFF"/>
                    </a:solidFill>
                  </a:tcPr>
                </a:tc>
                <a:tc>
                  <a:txBody>
                    <a:bodyPr/>
                    <a:lstStyle/>
                    <a:p>
                      <a:r>
                        <a:t>打卡记录、考勤统计、异常处理、考勤配置</a:t>
                      </a:r>
                    </a:p>
                  </a:txBody>
                  <a:tcPr>
                    <a:solidFill>
                      <a:srgbClr val="FFFFFF"/>
                    </a:solidFill>
                  </a:tcPr>
                </a:tc>
              </a:tr>
              <a:tr h="571500">
                <a:tc>
                  <a:txBody>
                    <a:bodyPr/>
                    <a:lstStyle/>
                    <a:p>
                      <a:r>
                        <a:t>人事管理</a:t>
                      </a:r>
                    </a:p>
                  </a:txBody>
                  <a:tcPr>
                    <a:solidFill>
                      <a:srgbClr val="F3F4F6"/>
                    </a:solidFill>
                  </a:tcPr>
                </a:tc>
                <a:tc>
                  <a:txBody>
                    <a:bodyPr/>
                    <a:lstStyle/>
                    <a:p>
                      <a:r>
                        <a:t>/labor/personnel</a:t>
                      </a:r>
                    </a:p>
                  </a:txBody>
                  <a:tcPr>
                    <a:solidFill>
                      <a:srgbClr val="F3F4F6"/>
                    </a:solidFill>
                  </a:tcPr>
                </a:tc>
                <a:tc>
                  <a:txBody>
                    <a:bodyPr/>
                    <a:lstStyle/>
                    <a:p>
                      <a:r>
                        <a:t>users, roles, departments</a:t>
                      </a:r>
                    </a:p>
                  </a:txBody>
                  <a:tcPr>
                    <a:solidFill>
                      <a:srgbClr val="F3F4F6"/>
                    </a:solidFill>
                  </a:tcPr>
                </a:tc>
                <a:tc>
                  <a:txBody>
                    <a:bodyPr/>
                    <a:lstStyle/>
                    <a:p>
                      <a:r>
                        <a:t>员工档案、入职/转正/离职、合同管理、部门职位</a:t>
                      </a:r>
                    </a:p>
                  </a:txBody>
                  <a:tcPr>
                    <a:solidFill>
                      <a:srgbClr val="F3F4F6"/>
                    </a:solidFill>
                  </a:tcPr>
                </a:tc>
              </a:tr>
              <a:tr h="571500">
                <a:tc>
                  <a:txBody>
                    <a:bodyPr/>
                    <a:lstStyle/>
                    <a:p>
                      <a:r>
                        <a:t>薪酬管理</a:t>
                      </a:r>
                    </a:p>
                  </a:txBody>
                  <a:tcPr>
                    <a:solidFill>
                      <a:srgbClr val="FFFFFF"/>
                    </a:solidFill>
                  </a:tcPr>
                </a:tc>
                <a:tc>
                  <a:txBody>
                    <a:bodyPr/>
                    <a:lstStyle/>
                    <a:p>
                      <a:r>
                        <a:t>/labor/compensation</a:t>
                      </a:r>
                    </a:p>
                  </a:txBody>
                  <a:tcPr>
                    <a:solidFill>
                      <a:srgbClr val="FFFFFF"/>
                    </a:solidFill>
                  </a:tcPr>
                </a:tc>
                <a:tc>
                  <a:txBody>
                    <a:bodyPr/>
                    <a:lstStyle/>
                    <a:p>
                      <a:r>
                        <a:t>labor_records, material_costs</a:t>
                      </a:r>
                    </a:p>
                  </a:txBody>
                  <a:tcPr>
                    <a:solidFill>
                      <a:srgbClr val="FFFFFF"/>
                    </a:solidFill>
                  </a:tcPr>
                </a:tc>
                <a:tc>
                  <a:txBody>
                    <a:bodyPr/>
                    <a:lstStyle/>
                    <a:p>
                      <a:r>
                        <a:t>工资核算、薪酬结构、绩效关联、工资条发放</a:t>
                      </a:r>
                    </a:p>
                  </a:txBody>
                  <a:tcPr>
                    <a:solidFill>
                      <a:srgbClr val="FFFFFF"/>
                    </a:solidFill>
                  </a:tcPr>
                </a:tc>
              </a:tr>
              <a:tr h="571500">
                <a:tc>
                  <a:txBody>
                    <a:bodyPr/>
                    <a:lstStyle/>
                    <a:p>
                      <a:r>
                        <a:t>运营分析</a:t>
                      </a:r>
                    </a:p>
                  </a:txBody>
                  <a:tcPr>
                    <a:solidFill>
                      <a:srgbClr val="F3F4F6"/>
                    </a:solidFill>
                  </a:tcPr>
                </a:tc>
                <a:tc>
                  <a:txBody>
                    <a:bodyPr/>
                    <a:lstStyle/>
                    <a:p>
                      <a:r>
                        <a:t>/labor/analytics</a:t>
                      </a:r>
                    </a:p>
                  </a:txBody>
                  <a:tcPr>
                    <a:solidFill>
                      <a:srgbClr val="F3F4F6"/>
                    </a:solidFill>
                  </a:tcPr>
                </a:tc>
                <a:tc>
                  <a:txBody>
                    <a:bodyPr/>
                    <a:lstStyle/>
                    <a:p>
                      <a:r>
                        <a:t>labor_records, attendance_records</a:t>
                      </a:r>
                    </a:p>
                  </a:txBody>
                  <a:tcPr>
                    <a:solidFill>
                      <a:srgbClr val="F3F4F6"/>
                    </a:solidFill>
                  </a:tcPr>
                </a:tc>
                <a:tc>
                  <a:txBody>
                    <a:bodyPr/>
                    <a:lstStyle/>
                    <a:p>
                      <a:r>
                        <a:t>工时统计、效率分析、成本报表、趋势图表</a:t>
                      </a:r>
                    </a:p>
                  </a:txBody>
                  <a:tcPr>
                    <a:solidFill>
                      <a:srgbClr val="F3F4F6"/>
                    </a:solidFill>
                  </a:tcPr>
                </a:tc>
              </a:tr>
              <a:tr h="571500">
                <a:tc>
                  <a:txBody>
                    <a:bodyPr/>
                    <a:lstStyle/>
                    <a:p>
                      <a:r>
                        <a:t>排班管理</a:t>
                      </a:r>
                    </a:p>
                  </a:txBody>
                  <a:tcPr>
                    <a:solidFill>
                      <a:srgbClr val="FFFFFF"/>
                    </a:solidFill>
                  </a:tcPr>
                </a:tc>
                <a:tc>
                  <a:txBody>
                    <a:bodyPr/>
                    <a:lstStyle/>
                    <a:p>
                      <a:r>
                        <a:t>/labor/schedule</a:t>
                      </a:r>
                    </a:p>
                  </a:txBody>
                  <a:tcPr>
                    <a:solidFill>
                      <a:srgbClr val="FFFFFF"/>
                    </a:solidFill>
                  </a:tcPr>
                </a:tc>
                <a:tc>
                  <a:txBody>
                    <a:bodyPr/>
                    <a:lstStyle/>
                    <a:p>
                      <a:r>
                        <a:t>schedule_records</a:t>
                      </a:r>
                    </a:p>
                  </a:txBody>
                  <a:tcPr>
                    <a:solidFill>
                      <a:srgbClr val="FFFFFF"/>
                    </a:solidFill>
                  </a:tcPr>
                </a:tc>
                <a:tc>
                  <a:txBody>
                    <a:bodyPr/>
                    <a:lstStyle/>
                    <a:p>
                      <a:r>
                        <a:t>班次定义、排班表、换班申请、批量编辑</a:t>
                      </a:r>
                    </a:p>
                  </a:txBody>
                  <a:tcPr>
                    <a:solidFill>
                      <a:srgbClr val="FFFFFF"/>
                    </a:solidFill>
                  </a:tcPr>
                </a:tc>
              </a:tr>
              <a:tr h="571500">
                <a:tc>
                  <a:txBody>
                    <a:bodyPr/>
                    <a:lstStyle/>
                    <a:p>
                      <a:r>
                        <a:t>请假管理</a:t>
                      </a:r>
                    </a:p>
                  </a:txBody>
                  <a:tcPr>
                    <a:solidFill>
                      <a:srgbClr val="F3F4F6"/>
                    </a:solidFill>
                  </a:tcPr>
                </a:tc>
                <a:tc>
                  <a:txBody>
                    <a:bodyPr/>
                    <a:lstStyle/>
                    <a:p>
                      <a:r>
                        <a:t>/labor/leave</a:t>
                      </a:r>
                    </a:p>
                  </a:txBody>
                  <a:tcPr>
                    <a:solidFill>
                      <a:srgbClr val="F3F4F6"/>
                    </a:solidFill>
                  </a:tcPr>
                </a:tc>
                <a:tc>
                  <a:txBody>
                    <a:bodyPr/>
                    <a:lstStyle/>
                    <a:p>
                      <a:r>
                        <a:t>leave_records, leave_quotas</a:t>
                      </a:r>
                    </a:p>
                  </a:txBody>
                  <a:tcPr>
                    <a:solidFill>
                      <a:srgbClr val="F3F4F6"/>
                    </a:solidFill>
                  </a:tcPr>
                </a:tc>
                <a:tc>
                  <a:txBody>
                    <a:bodyPr/>
                    <a:lstStyle/>
                    <a:p>
                      <a:r>
                        <a:t>请假申请、审批、假期额度管理、批量操作</a:t>
                      </a:r>
                    </a:p>
                  </a:txBody>
                  <a:tcPr>
                    <a:solidFill>
                      <a:srgbClr val="F3F4F6"/>
                    </a:solidFill>
                  </a:tcPr>
                </a:tc>
              </a:tr>
              <a:tr h="571500">
                <a:tc>
                  <a:txBody>
                    <a:bodyPr/>
                    <a:lstStyle/>
                    <a:p>
                      <a:r>
                        <a:t>加班管理</a:t>
                      </a:r>
                    </a:p>
                  </a:txBody>
                  <a:tcPr>
                    <a:solidFill>
                      <a:srgbClr val="FFFFFF"/>
                    </a:solidFill>
                  </a:tcPr>
                </a:tc>
                <a:tc>
                  <a:txBody>
                    <a:bodyPr/>
                    <a:lstStyle/>
                    <a:p>
                      <a:r>
                        <a:t>/labor/overtime</a:t>
                      </a:r>
                    </a:p>
                  </a:txBody>
                  <a:tcPr>
                    <a:solidFill>
                      <a:srgbClr val="FFFFFF"/>
                    </a:solidFill>
                  </a:tcPr>
                </a:tc>
                <a:tc>
                  <a:txBody>
                    <a:bodyPr/>
                    <a:lstStyle/>
                    <a:p>
                      <a:r>
                        <a:t>overtime_records</a:t>
                      </a:r>
                    </a:p>
                  </a:txBody>
                  <a:tcPr>
                    <a:solidFill>
                      <a:srgbClr val="FFFFFF"/>
                    </a:solidFill>
                  </a:tcPr>
                </a:tc>
                <a:tc>
                  <a:txBody>
                    <a:bodyPr/>
                    <a:lstStyle/>
                    <a:p>
                      <a:r>
                        <a:t>加班申请、审批、调休/加班费计算</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审批中心模块</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APPROVAL CENTER  |  基于PendingApproval.tsx/approval.ts路由代码提取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731520"/>
          </a:xfrm>
          <a:prstGeom prst="rect">
            <a:avLst/>
          </a:prstGeom>
          <a:noFill/>
        </p:spPr>
        <p:txBody>
          <a:bodyPr wrap="square">
            <a:spAutoFit/>
          </a:bodyPr>
          <a:lstStyle/>
          <a:p>
            <a:pPr>
              <a:lnSpc>
                <a:spcPct val="150000"/>
              </a:lnSpc>
              <a:defRPr sz="1200">
                <a:solidFill>
                  <a:srgbClr val="1F2937"/>
                </a:solidFill>
                <a:latin typeface="Microsoft YaHei"/>
              </a:defRPr>
            </a:pPr>
            <a:r>
              <a:t>审批中心是系统的业务合规引擎，支持5种审批级别（免审/快速/标准/严格/自定义），覆盖物料、生产、农事、人事等多维度审批场景，并提供完整的仪表盘和批量审批能力。</a:t>
            </a:r>
          </a:p>
        </p:txBody>
      </p:sp>
      <p:graphicFrame>
        <p:nvGraphicFramePr>
          <p:cNvPr id="7" name="Table 6"/>
          <p:cNvGraphicFramePr>
            <a:graphicFrameLocks noGrp="1"/>
          </p:cNvGraphicFramePr>
          <p:nvPr/>
        </p:nvGraphicFramePr>
        <p:xfrm>
          <a:off x="457200" y="2194560"/>
          <a:ext cx="11247120" cy="4114800"/>
        </p:xfrm>
        <a:graphic>
          <a:graphicData uri="http://schemas.openxmlformats.org/drawingml/2006/table">
            <a:tbl>
              <a:tblPr firstRow="1" bandRow="1">
                <a:tableStyleId>{5C22544A-7EE6-4342-B048-85BDC9FD1C3A}</a:tableStyleId>
              </a:tblPr>
              <a:tblGrid>
                <a:gridCol w="2811780"/>
                <a:gridCol w="2811780"/>
                <a:gridCol w="2811780"/>
                <a:gridCol w="2811780"/>
              </a:tblGrid>
              <a:tr h="587828">
                <a:tc>
                  <a:txBody>
                    <a:bodyPr/>
                    <a:lstStyle/>
                    <a:p>
                      <a:r>
                        <a:t>功能</a:t>
                      </a:r>
                    </a:p>
                  </a:txBody>
                  <a:tcPr>
                    <a:solidFill>
                      <a:srgbClr val="1A565E"/>
                    </a:solidFill>
                  </a:tcPr>
                </a:tc>
                <a:tc>
                  <a:txBody>
                    <a:bodyPr/>
                    <a:lstStyle/>
                    <a:p>
                      <a:r>
                        <a:t>路径</a:t>
                      </a:r>
                    </a:p>
                  </a:txBody>
                  <a:tcPr>
                    <a:solidFill>
                      <a:srgbClr val="1A565E"/>
                    </a:solidFill>
                  </a:tcPr>
                </a:tc>
                <a:tc>
                  <a:txBody>
                    <a:bodyPr/>
                    <a:lstStyle/>
                    <a:p>
                      <a:r>
                        <a:t>组件/路由</a:t>
                      </a:r>
                    </a:p>
                  </a:txBody>
                  <a:tcPr>
                    <a:solidFill>
                      <a:srgbClr val="1A565E"/>
                    </a:solidFill>
                  </a:tcPr>
                </a:tc>
                <a:tc>
                  <a:txBody>
                    <a:bodyPr/>
                    <a:lstStyle/>
                    <a:p>
                      <a:r>
                        <a:t>核心能力</a:t>
                      </a:r>
                    </a:p>
                  </a:txBody>
                  <a:tcPr>
                    <a:solidFill>
                      <a:srgbClr val="1A565E"/>
                    </a:solidFill>
                  </a:tcPr>
                </a:tc>
              </a:tr>
              <a:tr h="587828">
                <a:tc>
                  <a:txBody>
                    <a:bodyPr/>
                    <a:lstStyle/>
                    <a:p>
                      <a:r>
                        <a:t>审批仪表盘</a:t>
                      </a:r>
                    </a:p>
                  </a:txBody>
                  <a:tcPr>
                    <a:solidFill>
                      <a:srgbClr val="FFFFFF"/>
                    </a:solidFill>
                  </a:tcPr>
                </a:tc>
                <a:tc>
                  <a:txBody>
                    <a:bodyPr/>
                    <a:lstStyle/>
                    <a:p>
                      <a:r>
                        <a:t>/approvals</a:t>
                      </a:r>
                    </a:p>
                  </a:txBody>
                  <a:tcPr>
                    <a:solidFill>
                      <a:srgbClr val="FFFFFF"/>
                    </a:solidFill>
                  </a:tcPr>
                </a:tc>
                <a:tc>
                  <a:txBody>
                    <a:bodyPr/>
                    <a:lstStyle/>
                    <a:p>
                      <a:r>
                        <a:t>Approvals.tsx</a:t>
                      </a:r>
                    </a:p>
                  </a:txBody>
                  <a:tcPr>
                    <a:solidFill>
                      <a:srgbClr val="FFFFFF"/>
                    </a:solidFill>
                  </a:tcPr>
                </a:tc>
                <a:tc>
                  <a:txBody>
                    <a:bodyPr/>
                    <a:lstStyle/>
                    <a:p>
                      <a:r>
                        <a:t>待办/已办/我发起的统计、审批级别分布、逾期预警</a:t>
                      </a:r>
                    </a:p>
                  </a:txBody>
                  <a:tcPr>
                    <a:solidFill>
                      <a:srgbClr val="FFFFFF"/>
                    </a:solidFill>
                  </a:tcPr>
                </a:tc>
              </a:tr>
              <a:tr h="587828">
                <a:tc>
                  <a:txBody>
                    <a:bodyPr/>
                    <a:lstStyle/>
                    <a:p>
                      <a:r>
                        <a:t>待办审批</a:t>
                      </a:r>
                    </a:p>
                  </a:txBody>
                  <a:tcPr>
                    <a:solidFill>
                      <a:srgbClr val="F3F4F6"/>
                    </a:solidFill>
                  </a:tcPr>
                </a:tc>
                <a:tc>
                  <a:txBody>
                    <a:bodyPr/>
                    <a:lstStyle/>
                    <a:p>
                      <a:r>
                        <a:t>/approvals/pending</a:t>
                      </a:r>
                    </a:p>
                  </a:txBody>
                  <a:tcPr>
                    <a:solidFill>
                      <a:srgbClr val="F3F4F6"/>
                    </a:solidFill>
                  </a:tcPr>
                </a:tc>
                <a:tc>
                  <a:txBody>
                    <a:bodyPr/>
                    <a:lstStyle/>
                    <a:p>
                      <a:r>
                        <a:t>PendingApproval.tsx</a:t>
                      </a:r>
                    </a:p>
                  </a:txBody>
                  <a:tcPr>
                    <a:solidFill>
                      <a:srgbClr val="F3F4F6"/>
                    </a:solidFill>
                  </a:tcPr>
                </a:tc>
                <a:tc>
                  <a:txBody>
                    <a:bodyPr/>
                    <a:lstStyle/>
                    <a:p>
                      <a:r>
                        <a:t>待审批列表、详情查看、通过/驳回/部分通过操作</a:t>
                      </a:r>
                    </a:p>
                  </a:txBody>
                  <a:tcPr>
                    <a:solidFill>
                      <a:srgbClr val="F3F4F6"/>
                    </a:solidFill>
                  </a:tcPr>
                </a:tc>
              </a:tr>
              <a:tr h="587828">
                <a:tc>
                  <a:txBody>
                    <a:bodyPr/>
                    <a:lstStyle/>
                    <a:p>
                      <a:r>
                        <a:t>已办审批</a:t>
                      </a:r>
                    </a:p>
                  </a:txBody>
                  <a:tcPr>
                    <a:solidFill>
                      <a:srgbClr val="FFFFFF"/>
                    </a:solidFill>
                  </a:tcPr>
                </a:tc>
                <a:tc>
                  <a:txBody>
                    <a:bodyPr/>
                    <a:lstStyle/>
                    <a:p>
                      <a:r>
                        <a:t>/approvals/approved</a:t>
                      </a:r>
                    </a:p>
                  </a:txBody>
                  <a:tcPr>
                    <a:solidFill>
                      <a:srgbClr val="FFFFFF"/>
                    </a:solidFill>
                  </a:tcPr>
                </a:tc>
                <a:tc>
                  <a:txBody>
                    <a:bodyPr/>
                    <a:lstStyle/>
                    <a:p>
                      <a:r>
                        <a:t>Approved.tsx</a:t>
                      </a:r>
                    </a:p>
                  </a:txBody>
                  <a:tcPr>
                    <a:solidFill>
                      <a:srgbClr val="FFFFFF"/>
                    </a:solidFill>
                  </a:tcPr>
                </a:tc>
                <a:tc>
                  <a:txBody>
                    <a:bodyPr/>
                    <a:lstStyle/>
                    <a:p>
                      <a:r>
                        <a:t>历史审批记录、审批轨迹回溯</a:t>
                      </a:r>
                    </a:p>
                  </a:txBody>
                  <a:tcPr>
                    <a:solidFill>
                      <a:srgbClr val="FFFFFF"/>
                    </a:solidFill>
                  </a:tcPr>
                </a:tc>
              </a:tr>
              <a:tr h="587828">
                <a:tc>
                  <a:txBody>
                    <a:bodyPr/>
                    <a:lstStyle/>
                    <a:p>
                      <a:r>
                        <a:t>我的申请</a:t>
                      </a:r>
                    </a:p>
                  </a:txBody>
                  <a:tcPr>
                    <a:solidFill>
                      <a:srgbClr val="F3F4F6"/>
                    </a:solidFill>
                  </a:tcPr>
                </a:tc>
                <a:tc>
                  <a:txBody>
                    <a:bodyPr/>
                    <a:lstStyle/>
                    <a:p>
                      <a:r>
                        <a:t>/approvals/my-applications</a:t>
                      </a:r>
                    </a:p>
                  </a:txBody>
                  <a:tcPr>
                    <a:solidFill>
                      <a:srgbClr val="F3F4F6"/>
                    </a:solidFill>
                  </a:tcPr>
                </a:tc>
                <a:tc>
                  <a:txBody>
                    <a:bodyPr/>
                    <a:lstStyle/>
                    <a:p>
                      <a:r>
                        <a:t>MyApplications.tsx</a:t>
                      </a:r>
                    </a:p>
                  </a:txBody>
                  <a:tcPr>
                    <a:solidFill>
                      <a:srgbClr val="F3F4F6"/>
                    </a:solidFill>
                  </a:tcPr>
                </a:tc>
                <a:tc>
                  <a:txBody>
                    <a:bodyPr/>
                    <a:lstStyle/>
                    <a:p>
                      <a:r>
                        <a:t>我发起的全部审批、状态追踪、撤回</a:t>
                      </a:r>
                    </a:p>
                  </a:txBody>
                  <a:tcPr>
                    <a:solidFill>
                      <a:srgbClr val="F3F4F6"/>
                    </a:solidFill>
                  </a:tcPr>
                </a:tc>
              </a:tr>
              <a:tr h="587828">
                <a:tc>
                  <a:txBody>
                    <a:bodyPr/>
                    <a:lstStyle/>
                    <a:p>
                      <a:r>
                        <a:t>人事审批</a:t>
                      </a:r>
                    </a:p>
                  </a:txBody>
                  <a:tcPr>
                    <a:solidFill>
                      <a:srgbClr val="FFFFFF"/>
                    </a:solidFill>
                  </a:tcPr>
                </a:tc>
                <a:tc>
                  <a:txBody>
                    <a:bodyPr/>
                    <a:lstStyle/>
                    <a:p>
                      <a:r>
                        <a:t>/hr-approval</a:t>
                      </a:r>
                    </a:p>
                  </a:txBody>
                  <a:tcPr>
                    <a:solidFill>
                      <a:srgbClr val="FFFFFF"/>
                    </a:solidFill>
                  </a:tcPr>
                </a:tc>
                <a:tc>
                  <a:txBody>
                    <a:bodyPr/>
                    <a:lstStyle/>
                    <a:p>
                      <a:r>
                        <a:t>HrApproval.tsx</a:t>
                      </a:r>
                    </a:p>
                  </a:txBody>
                  <a:tcPr>
                    <a:solidFill>
                      <a:srgbClr val="FFFFFF"/>
                    </a:solidFill>
                  </a:tcPr>
                </a:tc>
                <a:tc>
                  <a:txBody>
                    <a:bodyPr/>
                    <a:lstStyle/>
                    <a:p>
                      <a:r>
                        <a:t>入职/转正/调岗/离职/请假/加班审批</a:t>
                      </a:r>
                    </a:p>
                  </a:txBody>
                  <a:tcPr>
                    <a:solidFill>
                      <a:srgbClr val="FFFFFF"/>
                    </a:solidFill>
                  </a:tcPr>
                </a:tc>
              </a:tr>
              <a:tr h="587832">
                <a:tc>
                  <a:txBody>
                    <a:bodyPr/>
                    <a:lstStyle/>
                    <a:p>
                      <a:r>
                        <a:t>专项审批</a:t>
                      </a:r>
                    </a:p>
                  </a:txBody>
                  <a:tcPr>
                    <a:solidFill>
                      <a:srgbClr val="F3F4F6"/>
                    </a:solidFill>
                  </a:tcPr>
                </a:tc>
                <a:tc>
                  <a:txBody>
                    <a:bodyPr/>
                    <a:lstStyle/>
                    <a:p>
                      <a:r>
                        <a:t>/material-approval等</a:t>
                      </a:r>
                    </a:p>
                  </a:txBody>
                  <a:tcPr>
                    <a:solidFill>
                      <a:srgbClr val="F3F4F6"/>
                    </a:solidFill>
                  </a:tcPr>
                </a:tc>
                <a:tc>
                  <a:txBody>
                    <a:bodyPr/>
                    <a:lstStyle/>
                    <a:p>
                      <a:r>
                        <a:t>各专项组件</a:t>
                      </a:r>
                    </a:p>
                  </a:txBody>
                  <a:tcPr>
                    <a:solidFill>
                      <a:srgbClr val="F3F4F6"/>
                    </a:solidFill>
                  </a:tcPr>
                </a:tc>
                <a:tc>
                  <a:txBody>
                    <a:bodyPr/>
                    <a:lstStyle/>
                    <a:p>
                      <a:r>
                        <a:t>物料/生产/农事/指标预算等专项审批入口</a:t>
                      </a:r>
                    </a:p>
                  </a:txBody>
                  <a:tcPr>
                    <a:solidFill>
                      <a:srgbClr val="F3F4F6"/>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审批状态机与API</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APPROVAL STATE MACHINE  |  基于server/src/routes/approval.ts源码提取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548640"/>
          </a:xfrm>
          <a:prstGeom prst="rect">
            <a:avLst/>
          </a:prstGeom>
          <a:noFill/>
        </p:spPr>
        <p:txBody>
          <a:bodyPr wrap="square">
            <a:spAutoFit/>
          </a:bodyPr>
          <a:lstStyle/>
          <a:p>
            <a:pPr>
              <a:lnSpc>
                <a:spcPct val="150000"/>
              </a:lnSpc>
              <a:defRPr sz="1200">
                <a:solidFill>
                  <a:srgbClr val="1F2937"/>
                </a:solidFill>
                <a:latin typeface="Microsoft YaHei"/>
              </a:defRPr>
            </a:pPr>
            <a:r>
              <a:t>审批引擎实现了完整的状态机，支持多级审批、批量审批、业务联动回调（如更新production_plans.batch_status）。</a:t>
            </a:r>
          </a:p>
        </p:txBody>
      </p:sp>
      <p:graphicFrame>
        <p:nvGraphicFramePr>
          <p:cNvPr id="7" name="Table 6"/>
          <p:cNvGraphicFramePr>
            <a:graphicFrameLocks noGrp="1"/>
          </p:cNvGraphicFramePr>
          <p:nvPr/>
        </p:nvGraphicFramePr>
        <p:xfrm>
          <a:off x="457200" y="2011680"/>
          <a:ext cx="11247120" cy="3657600"/>
        </p:xfrm>
        <a:graphic>
          <a:graphicData uri="http://schemas.openxmlformats.org/drawingml/2006/table">
            <a:tbl>
              <a:tblPr firstRow="1" bandRow="1">
                <a:tableStyleId>{5C22544A-7EE6-4342-B048-85BDC9FD1C3A}</a:tableStyleId>
              </a:tblPr>
              <a:tblGrid>
                <a:gridCol w="2811780"/>
                <a:gridCol w="2811780"/>
                <a:gridCol w="2811780"/>
                <a:gridCol w="2811780"/>
              </a:tblGrid>
              <a:tr h="609600">
                <a:tc>
                  <a:txBody>
                    <a:bodyPr/>
                    <a:lstStyle/>
                    <a:p>
                      <a:r>
                        <a:t>状态/操作</a:t>
                      </a:r>
                    </a:p>
                  </a:txBody>
                  <a:tcPr>
                    <a:solidFill>
                      <a:srgbClr val="1A565E"/>
                    </a:solidFill>
                  </a:tcPr>
                </a:tc>
                <a:tc>
                  <a:txBody>
                    <a:bodyPr/>
                    <a:lstStyle/>
                    <a:p>
                      <a:r>
                        <a:t>说明</a:t>
                      </a:r>
                    </a:p>
                  </a:txBody>
                  <a:tcPr>
                    <a:solidFill>
                      <a:srgbClr val="1A565E"/>
                    </a:solidFill>
                  </a:tcPr>
                </a:tc>
                <a:tc>
                  <a:txBody>
                    <a:bodyPr/>
                    <a:lstStyle/>
                    <a:p>
                      <a:r>
                        <a:t>触发条件</a:t>
                      </a:r>
                    </a:p>
                  </a:txBody>
                  <a:tcPr>
                    <a:solidFill>
                      <a:srgbClr val="1A565E"/>
                    </a:solidFill>
                  </a:tcPr>
                </a:tc>
                <a:tc>
                  <a:txBody>
                    <a:bodyPr/>
                    <a:lstStyle/>
                    <a:p>
                      <a:r>
                        <a:t>业务联动</a:t>
                      </a:r>
                    </a:p>
                  </a:txBody>
                  <a:tcPr>
                    <a:solidFill>
                      <a:srgbClr val="1A565E"/>
                    </a:solidFill>
                  </a:tcPr>
                </a:tc>
              </a:tr>
              <a:tr h="609600">
                <a:tc>
                  <a:txBody>
                    <a:bodyPr/>
                    <a:lstStyle/>
                    <a:p>
                      <a:r>
                        <a:t>draft</a:t>
                      </a:r>
                    </a:p>
                  </a:txBody>
                  <a:tcPr>
                    <a:solidFill>
                      <a:srgbClr val="FFFFFF"/>
                    </a:solidFill>
                  </a:tcPr>
                </a:tc>
                <a:tc>
                  <a:txBody>
                    <a:bodyPr/>
                    <a:lstStyle/>
                    <a:p>
                      <a:r>
                        <a:t>草稿</a:t>
                      </a:r>
                    </a:p>
                  </a:txBody>
                  <a:tcPr>
                    <a:solidFill>
                      <a:srgbClr val="FFFFFF"/>
                    </a:solidFill>
                  </a:tcPr>
                </a:tc>
                <a:tc>
                  <a:txBody>
                    <a:bodyPr/>
                    <a:lstStyle/>
                    <a:p>
                      <a:r>
                        <a:t>创建后未提交</a:t>
                      </a:r>
                    </a:p>
                  </a:txBody>
                  <a:tcPr>
                    <a:solidFill>
                      <a:srgbClr val="FFFFFF"/>
                    </a:solidFill>
                  </a:tcPr>
                </a:tc>
                <a:tc>
                  <a:txBody>
                    <a:bodyPr/>
                    <a:lstStyle/>
                    <a:p>
                      <a:r>
                        <a:t>无</a:t>
                      </a:r>
                    </a:p>
                  </a:txBody>
                  <a:tcPr>
                    <a:solidFill>
                      <a:srgbClr val="FFFFFF"/>
                    </a:solidFill>
                  </a:tcPr>
                </a:tc>
              </a:tr>
              <a:tr h="609600">
                <a:tc>
                  <a:txBody>
                    <a:bodyPr/>
                    <a:lstStyle/>
                    <a:p>
                      <a:r>
                        <a:t>pending</a:t>
                      </a:r>
                    </a:p>
                  </a:txBody>
                  <a:tcPr>
                    <a:solidFill>
                      <a:srgbClr val="F3F4F6"/>
                    </a:solidFill>
                  </a:tcPr>
                </a:tc>
                <a:tc>
                  <a:txBody>
                    <a:bodyPr/>
                    <a:lstStyle/>
                    <a:p>
                      <a:r>
                        <a:t>审批中</a:t>
                      </a:r>
                    </a:p>
                  </a:txBody>
                  <a:tcPr>
                    <a:solidFill>
                      <a:srgbClr val="F3F4F6"/>
                    </a:solidFill>
                  </a:tcPr>
                </a:tc>
                <a:tc>
                  <a:txBody>
                    <a:bodyPr/>
                    <a:lstStyle/>
                    <a:p>
                      <a:r>
                        <a:t>提交后进入</a:t>
                      </a:r>
                    </a:p>
                  </a:txBody>
                  <a:tcPr>
                    <a:solidFill>
                      <a:srgbClr val="F3F4F6"/>
                    </a:solidFill>
                  </a:tcPr>
                </a:tc>
                <a:tc>
                  <a:txBody>
                    <a:bodyPr/>
                    <a:lstStyle/>
                    <a:p>
                      <a:r>
                        <a:t>通知审批人</a:t>
                      </a:r>
                    </a:p>
                  </a:txBody>
                  <a:tcPr>
                    <a:solidFill>
                      <a:srgbClr val="F3F4F6"/>
                    </a:solidFill>
                  </a:tcPr>
                </a:tc>
              </a:tr>
              <a:tr h="609600">
                <a:tc>
                  <a:txBody>
                    <a:bodyPr/>
                    <a:lstStyle/>
                    <a:p>
                      <a:r>
                        <a:t>approved</a:t>
                      </a:r>
                    </a:p>
                  </a:txBody>
                  <a:tcPr>
                    <a:solidFill>
                      <a:srgbClr val="FFFFFF"/>
                    </a:solidFill>
                  </a:tcPr>
                </a:tc>
                <a:tc>
                  <a:txBody>
                    <a:bodyPr/>
                    <a:lstStyle/>
                    <a:p>
                      <a:r>
                        <a:t>已通过</a:t>
                      </a:r>
                    </a:p>
                  </a:txBody>
                  <a:tcPr>
                    <a:solidFill>
                      <a:srgbClr val="FFFFFF"/>
                    </a:solidFill>
                  </a:tcPr>
                </a:tc>
                <a:tc>
                  <a:txBody>
                    <a:bodyPr/>
                    <a:lstStyle/>
                    <a:p>
                      <a:r>
                        <a:t>current_step &gt;= total_steps</a:t>
                      </a:r>
                    </a:p>
                  </a:txBody>
                  <a:tcPr>
                    <a:solidFill>
                      <a:srgbClr val="FFFFFF"/>
                    </a:solidFill>
                  </a:tcPr>
                </a:tc>
                <a:tc>
                  <a:txBody>
                    <a:bodyPr/>
                    <a:lstStyle/>
                    <a:p>
                      <a:r>
                        <a:t>更新关联业务状态</a:t>
                      </a:r>
                    </a:p>
                  </a:txBody>
                  <a:tcPr>
                    <a:solidFill>
                      <a:srgbClr val="FFFFFF"/>
                    </a:solidFill>
                  </a:tcPr>
                </a:tc>
              </a:tr>
              <a:tr h="609600">
                <a:tc>
                  <a:txBody>
                    <a:bodyPr/>
                    <a:lstStyle/>
                    <a:p>
                      <a:r>
                        <a:t>rejected</a:t>
                      </a:r>
                    </a:p>
                  </a:txBody>
                  <a:tcPr>
                    <a:solidFill>
                      <a:srgbClr val="F3F4F6"/>
                    </a:solidFill>
                  </a:tcPr>
                </a:tc>
                <a:tc>
                  <a:txBody>
                    <a:bodyPr/>
                    <a:lstStyle/>
                    <a:p>
                      <a:r>
                        <a:t>已驳回</a:t>
                      </a:r>
                    </a:p>
                  </a:txBody>
                  <a:tcPr>
                    <a:solidFill>
                      <a:srgbClr val="F3F4F6"/>
                    </a:solidFill>
                  </a:tcPr>
                </a:tc>
                <a:tc>
                  <a:txBody>
                    <a:bodyPr/>
                    <a:lstStyle/>
                    <a:p>
                      <a:r>
                        <a:t>任一审批人驳回</a:t>
                      </a:r>
                    </a:p>
                  </a:txBody>
                  <a:tcPr>
                    <a:solidFill>
                      <a:srgbClr val="F3F4F6"/>
                    </a:solidFill>
                  </a:tcPr>
                </a:tc>
                <a:tc>
                  <a:txBody>
                    <a:bodyPr/>
                    <a:lstStyle/>
                    <a:p>
                      <a:r>
                        <a:t>跳过剩余审批人</a:t>
                      </a:r>
                    </a:p>
                  </a:txBody>
                  <a:tcPr>
                    <a:solidFill>
                      <a:srgbClr val="F3F4F6"/>
                    </a:solidFill>
                  </a:tcPr>
                </a:tc>
              </a:tr>
              <a:tr h="609600">
                <a:tc>
                  <a:txBody>
                    <a:bodyPr/>
                    <a:lstStyle/>
                    <a:p>
                      <a:r>
                        <a:t>partially_approved</a:t>
                      </a:r>
                    </a:p>
                  </a:txBody>
                  <a:tcPr>
                    <a:solidFill>
                      <a:srgbClr val="FFFFFF"/>
                    </a:solidFill>
                  </a:tcPr>
                </a:tc>
                <a:tc>
                  <a:txBody>
                    <a:bodyPr/>
                    <a:lstStyle/>
                    <a:p>
                      <a:r>
                        <a:t>部分通过</a:t>
                      </a:r>
                    </a:p>
                  </a:txBody>
                  <a:tcPr>
                    <a:solidFill>
                      <a:srgbClr val="FFFFFF"/>
                    </a:solidFill>
                  </a:tcPr>
                </a:tc>
                <a:tc>
                  <a:txBody>
                    <a:bodyPr/>
                    <a:lstStyle/>
                    <a:p>
                      <a:r>
                        <a:t>部分同意</a:t>
                      </a:r>
                    </a:p>
                  </a:txBody>
                  <a:tcPr>
                    <a:solidFill>
                      <a:srgbClr val="FFFFFF"/>
                    </a:solidFill>
                  </a:tcPr>
                </a:tc>
                <a:tc>
                  <a:txBody>
                    <a:bodyPr/>
                    <a:lstStyle/>
                    <a:p>
                      <a:r>
                        <a:t>根据条件执行</a:t>
                      </a:r>
                    </a:p>
                  </a:txBody>
                  <a:tcPr>
                    <a:solidFill>
                      <a:srgbClr val="FFFFFF"/>
                    </a:solidFill>
                  </a:tcPr>
                </a:tc>
              </a:tr>
            </a:tbl>
          </a:graphicData>
        </a:graphic>
      </p:graphicFrame>
      <p:sp>
        <p:nvSpPr>
          <p:cNvPr id="8" name="TextBox 7"/>
          <p:cNvSpPr txBox="1"/>
          <p:nvPr/>
        </p:nvSpPr>
        <p:spPr>
          <a:xfrm>
            <a:off x="457200" y="5852160"/>
            <a:ext cx="11247120" cy="822960"/>
          </a:xfrm>
          <a:prstGeom prst="rect">
            <a:avLst/>
          </a:prstGeom>
          <a:noFill/>
        </p:spPr>
        <p:txBody>
          <a:bodyPr wrap="square">
            <a:spAutoFit/>
          </a:bodyPr>
          <a:lstStyle/>
          <a:p>
            <a:pPr>
              <a:spcAft>
                <a:spcPts val="500"/>
              </a:spcAft>
              <a:defRPr sz="1000" b="1">
                <a:solidFill>
                  <a:srgbClr val="2D8B8B"/>
                </a:solidFill>
                <a:latin typeface="Microsoft YaHei"/>
              </a:defRPr>
            </a:pPr>
            <a:r>
              <a:t>【关键API端点（从approval.ts提取）】</a:t>
            </a:r>
          </a:p>
          <a:p>
            <a:pPr>
              <a:spcAft>
                <a:spcPts val="500"/>
              </a:spcAft>
              <a:defRPr sz="1000">
                <a:solidFill>
                  <a:srgbClr val="1F2937"/>
                </a:solidFill>
                <a:latin typeface="Microsoft YaHei"/>
              </a:defRPr>
            </a:pPr>
            <a:r>
              <a:t>  PATCH /:id/action — 审批操作: approve/reject/partially_approve/cancel/submit | POST /batch-action — 批量审批</a:t>
            </a:r>
          </a:p>
          <a:p>
            <a:pPr>
              <a:spcAft>
                <a:spcPts val="500"/>
              </a:spcAft>
              <a:defRPr sz="1000">
                <a:solidFill>
                  <a:srgbClr val="1F2937"/>
                </a:solidFill>
                <a:latin typeface="Microsoft YaHei"/>
              </a:defRPr>
            </a:pPr>
            <a:r>
              <a:t>  GET /pending/me | /submitted/me | /stats/summary | /overdue/list — 查询端点 | POST /update — 业务联动回调</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基地总览 Dashboard</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DASHBOARD  |  基于Dashboard.tsx(550行)源码提取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548640"/>
          </a:xfrm>
          <a:prstGeom prst="rect">
            <a:avLst/>
          </a:prstGeom>
          <a:noFill/>
        </p:spPr>
        <p:txBody>
          <a:bodyPr wrap="square">
            <a:spAutoFit/>
          </a:bodyPr>
          <a:lstStyle/>
          <a:p>
            <a:pPr>
              <a:lnSpc>
                <a:spcPct val="150000"/>
              </a:lnSpc>
              <a:defRPr sz="1200">
                <a:solidFill>
                  <a:srgbClr val="1F2937"/>
                </a:solidFill>
                <a:latin typeface="Microsoft YaHei"/>
              </a:defRPr>
            </a:pPr>
            <a:r>
              <a:t>Dashboard是系统首页，展示基地运营的全景数据，包含6个统计卡片、4张数据表格、完整的数据搜索过滤和详情弹窗。</a:t>
            </a:r>
          </a:p>
        </p:txBody>
      </p:sp>
      <p:graphicFrame>
        <p:nvGraphicFramePr>
          <p:cNvPr id="7" name="Table 6"/>
          <p:cNvGraphicFramePr>
            <a:graphicFrameLocks noGrp="1"/>
          </p:cNvGraphicFramePr>
          <p:nvPr/>
        </p:nvGraphicFramePr>
        <p:xfrm>
          <a:off x="457200" y="2011680"/>
          <a:ext cx="11247120" cy="4389120"/>
        </p:xfrm>
        <a:graphic>
          <a:graphicData uri="http://schemas.openxmlformats.org/drawingml/2006/table">
            <a:tbl>
              <a:tblPr firstRow="1" bandRow="1">
                <a:tableStyleId>{5C22544A-7EE6-4342-B048-85BDC9FD1C3A}</a:tableStyleId>
              </a:tblPr>
              <a:tblGrid>
                <a:gridCol w="2811780"/>
                <a:gridCol w="2811780"/>
                <a:gridCol w="2811780"/>
                <a:gridCol w="2811780"/>
              </a:tblGrid>
              <a:tr h="627017">
                <a:tc>
                  <a:txBody>
                    <a:bodyPr/>
                    <a:lstStyle/>
                    <a:p>
                      <a:r>
                        <a:t>区域</a:t>
                      </a:r>
                    </a:p>
                  </a:txBody>
                  <a:tcPr>
                    <a:solidFill>
                      <a:srgbClr val="1A565E"/>
                    </a:solidFill>
                  </a:tcPr>
                </a:tc>
                <a:tc>
                  <a:txBody>
                    <a:bodyPr/>
                    <a:lstStyle/>
                    <a:p>
                      <a:r>
                        <a:t>元素</a:t>
                      </a:r>
                    </a:p>
                  </a:txBody>
                  <a:tcPr>
                    <a:solidFill>
                      <a:srgbClr val="1A565E"/>
                    </a:solidFill>
                  </a:tcPr>
                </a:tc>
                <a:tc>
                  <a:txBody>
                    <a:bodyPr/>
                    <a:lstStyle/>
                    <a:p>
                      <a:r>
                        <a:t>数量</a:t>
                      </a:r>
                    </a:p>
                  </a:txBody>
                  <a:tcPr>
                    <a:solidFill>
                      <a:srgbClr val="1A565E"/>
                    </a:solidFill>
                  </a:tcPr>
                </a:tc>
                <a:tc>
                  <a:txBody>
                    <a:bodyPr/>
                    <a:lstStyle/>
                    <a:p>
                      <a:r>
                        <a:t>源码证据</a:t>
                      </a:r>
                    </a:p>
                  </a:txBody>
                  <a:tcPr>
                    <a:solidFill>
                      <a:srgbClr val="1A565E"/>
                    </a:solidFill>
                  </a:tcPr>
                </a:tc>
              </a:tr>
              <a:tr h="627017">
                <a:tc>
                  <a:txBody>
                    <a:bodyPr/>
                    <a:lstStyle/>
                    <a:p>
                      <a:r>
                        <a:t>统计卡片</a:t>
                      </a:r>
                    </a:p>
                  </a:txBody>
                  <a:tcPr>
                    <a:solidFill>
                      <a:srgbClr val="FFFFFF"/>
                    </a:solidFill>
                  </a:tcPr>
                </a:tc>
                <a:tc>
                  <a:txBody>
                    <a:bodyPr/>
                    <a:lstStyle/>
                    <a:p>
                      <a:r>
                        <a:t>今日工单、完成率、待处理、进行中、逾期、待验收</a:t>
                      </a:r>
                    </a:p>
                  </a:txBody>
                  <a:tcPr>
                    <a:solidFill>
                      <a:srgbClr val="FFFFFF"/>
                    </a:solidFill>
                  </a:tcPr>
                </a:tc>
                <a:tc>
                  <a:txBody>
                    <a:bodyPr/>
                    <a:lstStyle/>
                    <a:p>
                      <a:r>
                        <a:t>6张</a:t>
                      </a:r>
                    </a:p>
                  </a:txBody>
                  <a:tcPr>
                    <a:solidFill>
                      <a:srgbClr val="FFFFFF"/>
                    </a:solidFill>
                  </a:tcPr>
                </a:tc>
                <a:tc>
                  <a:txBody>
                    <a:bodyPr/>
                    <a:lstStyle/>
                    <a:p>
                      <a:r>
                        <a:t>统计卡片组件，独立hook获取数据</a:t>
                      </a:r>
                    </a:p>
                  </a:txBody>
                  <a:tcPr>
                    <a:solidFill>
                      <a:srgbClr val="FFFFFF"/>
                    </a:solidFill>
                  </a:tcPr>
                </a:tc>
              </a:tr>
              <a:tr h="627017">
                <a:tc>
                  <a:txBody>
                    <a:bodyPr/>
                    <a:lstStyle/>
                    <a:p>
                      <a:r>
                        <a:t>任务表格</a:t>
                      </a:r>
                    </a:p>
                  </a:txBody>
                  <a:tcPr>
                    <a:solidFill>
                      <a:srgbClr val="F3F4F6"/>
                    </a:solidFill>
                  </a:tcPr>
                </a:tc>
                <a:tc>
                  <a:txBody>
                    <a:bodyPr/>
                    <a:lstStyle/>
                    <a:p>
                      <a:r>
                        <a:t>全部任务、待处理、进行中、已逾期</a:t>
                      </a:r>
                    </a:p>
                  </a:txBody>
                  <a:tcPr>
                    <a:solidFill>
                      <a:srgbClr val="F3F4F6"/>
                    </a:solidFill>
                  </a:tcPr>
                </a:tc>
                <a:tc>
                  <a:txBody>
                    <a:bodyPr/>
                    <a:lstStyle/>
                    <a:p>
                      <a:r>
                        <a:t>4个tab</a:t>
                      </a:r>
                    </a:p>
                  </a:txBody>
                  <a:tcPr>
                    <a:solidFill>
                      <a:srgbClr val="F3F4F6"/>
                    </a:solidFill>
                  </a:tcPr>
                </a:tc>
                <a:tc>
                  <a:txBody>
                    <a:bodyPr/>
                    <a:lstStyle/>
                    <a:p>
                      <a:r>
                        <a:t>FarmTaskTable组件，Tab切换</a:t>
                      </a:r>
                    </a:p>
                  </a:txBody>
                  <a:tcPr>
                    <a:solidFill>
                      <a:srgbClr val="F3F4F6"/>
                    </a:solidFill>
                  </a:tcPr>
                </a:tc>
              </a:tr>
              <a:tr h="627017">
                <a:tc>
                  <a:txBody>
                    <a:bodyPr/>
                    <a:lstStyle/>
                    <a:p>
                      <a:r>
                        <a:t>数据表格</a:t>
                      </a:r>
                    </a:p>
                  </a:txBody>
                  <a:tcPr>
                    <a:solidFill>
                      <a:srgbClr val="FFFFFF"/>
                    </a:solidFill>
                  </a:tcPr>
                </a:tc>
                <a:tc>
                  <a:txBody>
                    <a:bodyPr/>
                    <a:lstStyle/>
                    <a:p>
                      <a:r>
                        <a:t>任务表(分页)、种源表、育苗表、种植表</a:t>
                      </a:r>
                    </a:p>
                  </a:txBody>
                  <a:tcPr>
                    <a:solidFill>
                      <a:srgbClr val="FFFFFF"/>
                    </a:solidFill>
                  </a:tcPr>
                </a:tc>
                <a:tc>
                  <a:txBody>
                    <a:bodyPr/>
                    <a:lstStyle/>
                    <a:p>
                      <a:r>
                        <a:t>4张</a:t>
                      </a:r>
                    </a:p>
                  </a:txBody>
                  <a:tcPr>
                    <a:solidFill>
                      <a:srgbClr val="FFFFFF"/>
                    </a:solidFill>
                  </a:tcPr>
                </a:tc>
                <a:tc>
                  <a:txBody>
                    <a:bodyPr/>
                    <a:lstStyle/>
                    <a:p>
                      <a:r>
                        <a:t>种子源表SeedSourceTable等</a:t>
                      </a:r>
                    </a:p>
                  </a:txBody>
                  <a:tcPr>
                    <a:solidFill>
                      <a:srgbClr val="FFFFFF"/>
                    </a:solidFill>
                  </a:tcPr>
                </a:tc>
              </a:tr>
              <a:tr h="627017">
                <a:tc>
                  <a:txBody>
                    <a:bodyPr/>
                    <a:lstStyle/>
                    <a:p>
                      <a:r>
                        <a:t>搜索过滤</a:t>
                      </a:r>
                    </a:p>
                  </a:txBody>
                  <a:tcPr>
                    <a:solidFill>
                      <a:srgbClr val="F3F4F6"/>
                    </a:solidFill>
                  </a:tcPr>
                </a:tc>
                <a:tc>
                  <a:txBody>
                    <a:bodyPr/>
                    <a:lstStyle/>
                    <a:p>
                      <a:r>
                        <a:t>关键字搜索、状态筛选、日期范围</a:t>
                      </a:r>
                    </a:p>
                  </a:txBody>
                  <a:tcPr>
                    <a:solidFill>
                      <a:srgbClr val="F3F4F6"/>
                    </a:solidFill>
                  </a:tcPr>
                </a:tc>
                <a:tc>
                  <a:txBody>
                    <a:bodyPr/>
                    <a:lstStyle/>
                    <a:p>
                      <a:r>
                        <a:t>3种</a:t>
                      </a:r>
                    </a:p>
                  </a:txBody>
                  <a:tcPr>
                    <a:solidFill>
                      <a:srgbClr val="F3F4F6"/>
                    </a:solidFill>
                  </a:tcPr>
                </a:tc>
                <a:tc>
                  <a:txBody>
                    <a:bodyPr/>
                    <a:lstStyle/>
                    <a:p>
                      <a:r>
                        <a:t>SearchFilterBar + useFilter hook</a:t>
                      </a:r>
                    </a:p>
                  </a:txBody>
                  <a:tcPr>
                    <a:solidFill>
                      <a:srgbClr val="F3F4F6"/>
                    </a:solidFill>
                  </a:tcPr>
                </a:tc>
              </a:tr>
              <a:tr h="627017">
                <a:tc>
                  <a:txBody>
                    <a:bodyPr/>
                    <a:lstStyle/>
                    <a:p>
                      <a:r>
                        <a:t>详情弹窗</a:t>
                      </a:r>
                    </a:p>
                  </a:txBody>
                  <a:tcPr>
                    <a:solidFill>
                      <a:srgbClr val="FFFFFF"/>
                    </a:solidFill>
                  </a:tcPr>
                </a:tc>
                <a:tc>
                  <a:txBody>
                    <a:bodyPr/>
                    <a:lstStyle/>
                    <a:p>
                      <a:r>
                        <a:t>任务详情、种源详情、育苗详情</a:t>
                      </a:r>
                    </a:p>
                  </a:txBody>
                  <a:tcPr>
                    <a:solidFill>
                      <a:srgbClr val="FFFFFF"/>
                    </a:solidFill>
                  </a:tcPr>
                </a:tc>
                <a:tc>
                  <a:txBody>
                    <a:bodyPr/>
                    <a:lstStyle/>
                    <a:p>
                      <a:r>
                        <a:t>3+</a:t>
                      </a:r>
                    </a:p>
                  </a:txBody>
                  <a:tcPr>
                    <a:solidFill>
                      <a:srgbClr val="FFFFFF"/>
                    </a:solidFill>
                  </a:tcPr>
                </a:tc>
                <a:tc>
                  <a:txBody>
                    <a:bodyPr/>
                    <a:lstStyle/>
                    <a:p>
                      <a:r>
                        <a:t>DetailModal系列组件</a:t>
                      </a:r>
                    </a:p>
                  </a:txBody>
                  <a:tcPr>
                    <a:solidFill>
                      <a:srgbClr val="FFFFFF"/>
                    </a:solidFill>
                  </a:tcPr>
                </a:tc>
              </a:tr>
              <a:tr h="627018">
                <a:tc>
                  <a:txBody>
                    <a:bodyPr/>
                    <a:lstStyle/>
                    <a:p>
                      <a:r>
                        <a:t>快捷操作</a:t>
                      </a:r>
                    </a:p>
                  </a:txBody>
                  <a:tcPr>
                    <a:solidFill>
                      <a:srgbClr val="F3F4F6"/>
                    </a:solidFill>
                  </a:tcPr>
                </a:tc>
                <a:tc>
                  <a:txBody>
                    <a:bodyPr/>
                    <a:lstStyle/>
                    <a:p>
                      <a:r>
                        <a:t>新建任务、新建种源、新建育苗</a:t>
                      </a:r>
                    </a:p>
                  </a:txBody>
                  <a:tcPr>
                    <a:solidFill>
                      <a:srgbClr val="F3F4F6"/>
                    </a:solidFill>
                  </a:tcPr>
                </a:tc>
                <a:tc>
                  <a:txBody>
                    <a:bodyPr/>
                    <a:lstStyle/>
                    <a:p>
                      <a:r>
                        <a:t>3+</a:t>
                      </a:r>
                    </a:p>
                  </a:txBody>
                  <a:tcPr>
                    <a:solidFill>
                      <a:srgbClr val="F3F4F6"/>
                    </a:solidFill>
                  </a:tcPr>
                </a:tc>
                <a:tc>
                  <a:txBody>
                    <a:bodyPr/>
                    <a:lstStyle/>
                    <a:p>
                      <a:r>
                        <a:t>QuickAction按钮组</a:t>
                      </a:r>
                    </a:p>
                  </a:txBody>
                  <a:tcPr>
                    <a:solidFill>
                      <a:srgbClr val="F3F4F6"/>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系统设置模块</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SYSTEM SETTINGS  |  基于Settings路由及Authority路由代码提取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731520"/>
          </a:xfrm>
          <a:prstGeom prst="rect">
            <a:avLst/>
          </a:prstGeom>
          <a:noFill/>
        </p:spPr>
        <p:txBody>
          <a:bodyPr wrap="square">
            <a:spAutoFit/>
          </a:bodyPr>
          <a:lstStyle/>
          <a:p>
            <a:pPr>
              <a:lnSpc>
                <a:spcPct val="150000"/>
              </a:lnSpc>
              <a:defRPr sz="1200">
                <a:solidFill>
                  <a:srgbClr val="1F2937"/>
                </a:solidFill>
                <a:latin typeface="Microsoft YaHei"/>
              </a:defRPr>
            </a:pPr>
            <a:r>
              <a:t>系统设置模块覆盖用户权限管理、组织架构、数据字典、基地配置、流程配置和日志管理，是系统的管理后台。设置页面使用SimpleLayout（仅Header，无侧边栏），共25+子路由。</a:t>
            </a:r>
          </a:p>
        </p:txBody>
      </p:sp>
      <p:graphicFrame>
        <p:nvGraphicFramePr>
          <p:cNvPr id="7" name="Table 6"/>
          <p:cNvGraphicFramePr>
            <a:graphicFrameLocks noGrp="1"/>
          </p:cNvGraphicFramePr>
          <p:nvPr/>
        </p:nvGraphicFramePr>
        <p:xfrm>
          <a:off x="457200" y="2194560"/>
          <a:ext cx="11247120" cy="4389120"/>
        </p:xfrm>
        <a:graphic>
          <a:graphicData uri="http://schemas.openxmlformats.org/drawingml/2006/table">
            <a:tbl>
              <a:tblPr firstRow="1" bandRow="1">
                <a:tableStyleId>{5C22544A-7EE6-4342-B048-85BDC9FD1C3A}</a:tableStyleId>
              </a:tblPr>
              <a:tblGrid>
                <a:gridCol w="2811780"/>
                <a:gridCol w="2811780"/>
                <a:gridCol w="2811780"/>
                <a:gridCol w="2811780"/>
              </a:tblGrid>
              <a:tr h="438912">
                <a:tc>
                  <a:txBody>
                    <a:bodyPr/>
                    <a:lstStyle/>
                    <a:p>
                      <a:r>
                        <a:t>功能</a:t>
                      </a:r>
                    </a:p>
                  </a:txBody>
                  <a:tcPr>
                    <a:solidFill>
                      <a:srgbClr val="1A565E"/>
                    </a:solidFill>
                  </a:tcPr>
                </a:tc>
                <a:tc>
                  <a:txBody>
                    <a:bodyPr/>
                    <a:lstStyle/>
                    <a:p>
                      <a:r>
                        <a:t>路径</a:t>
                      </a:r>
                    </a:p>
                  </a:txBody>
                  <a:tcPr>
                    <a:solidFill>
                      <a:srgbClr val="1A565E"/>
                    </a:solidFill>
                  </a:tcPr>
                </a:tc>
                <a:tc>
                  <a:txBody>
                    <a:bodyPr/>
                    <a:lstStyle/>
                    <a:p>
                      <a:r>
                        <a:t>关键表</a:t>
                      </a:r>
                    </a:p>
                  </a:txBody>
                  <a:tcPr>
                    <a:solidFill>
                      <a:srgbClr val="1A565E"/>
                    </a:solidFill>
                  </a:tcPr>
                </a:tc>
                <a:tc>
                  <a:txBody>
                    <a:bodyPr/>
                    <a:lstStyle/>
                    <a:p>
                      <a:r>
                        <a:t>核心能力</a:t>
                      </a:r>
                    </a:p>
                  </a:txBody>
                  <a:tcPr>
                    <a:solidFill>
                      <a:srgbClr val="1A565E"/>
                    </a:solidFill>
                  </a:tcPr>
                </a:tc>
              </a:tr>
              <a:tr h="438912">
                <a:tc>
                  <a:txBody>
                    <a:bodyPr/>
                    <a:lstStyle/>
                    <a:p>
                      <a:r>
                        <a:t>用户管理</a:t>
                      </a:r>
                    </a:p>
                  </a:txBody>
                  <a:tcPr>
                    <a:solidFill>
                      <a:srgbClr val="FFFFFF"/>
                    </a:solidFill>
                  </a:tcPr>
                </a:tc>
                <a:tc>
                  <a:txBody>
                    <a:bodyPr/>
                    <a:lstStyle/>
                    <a:p>
                      <a:r>
                        <a:t>/settings/users</a:t>
                      </a:r>
                    </a:p>
                  </a:txBody>
                  <a:tcPr>
                    <a:solidFill>
                      <a:srgbClr val="FFFFFF"/>
                    </a:solidFill>
                  </a:tcPr>
                </a:tc>
                <a:tc>
                  <a:txBody>
                    <a:bodyPr/>
                    <a:lstStyle/>
                    <a:p>
                      <a:r>
                        <a:t>users, user_roles</a:t>
                      </a:r>
                    </a:p>
                  </a:txBody>
                  <a:tcPr>
                    <a:solidFill>
                      <a:srgbClr val="FFFFFF"/>
                    </a:solidFill>
                  </a:tcPr>
                </a:tc>
                <a:tc>
                  <a:txBody>
                    <a:bodyPr/>
                    <a:lstStyle/>
                    <a:p>
                      <a:r>
                        <a:t>用户CRUD、状态管理、角色分配</a:t>
                      </a:r>
                    </a:p>
                  </a:txBody>
                  <a:tcPr>
                    <a:solidFill>
                      <a:srgbClr val="FFFFFF"/>
                    </a:solidFill>
                  </a:tcPr>
                </a:tc>
              </a:tr>
              <a:tr h="438912">
                <a:tc>
                  <a:txBody>
                    <a:bodyPr/>
                    <a:lstStyle/>
                    <a:p>
                      <a:r>
                        <a:t>角色管理</a:t>
                      </a:r>
                    </a:p>
                  </a:txBody>
                  <a:tcPr>
                    <a:solidFill>
                      <a:srgbClr val="F3F4F6"/>
                    </a:solidFill>
                  </a:tcPr>
                </a:tc>
                <a:tc>
                  <a:txBody>
                    <a:bodyPr/>
                    <a:lstStyle/>
                    <a:p>
                      <a:r>
                        <a:t>/settings/roles</a:t>
                      </a:r>
                    </a:p>
                  </a:txBody>
                  <a:tcPr>
                    <a:solidFill>
                      <a:srgbClr val="F3F4F6"/>
                    </a:solidFill>
                  </a:tcPr>
                </a:tc>
                <a:tc>
                  <a:txBody>
                    <a:bodyPr/>
                    <a:lstStyle/>
                    <a:p>
                      <a:r>
                        <a:t>roles, role_permissions</a:t>
                      </a:r>
                    </a:p>
                  </a:txBody>
                  <a:tcPr>
                    <a:solidFill>
                      <a:srgbClr val="F3F4F6"/>
                    </a:solidFill>
                  </a:tcPr>
                </a:tc>
                <a:tc>
                  <a:txBody>
                    <a:bodyPr/>
                    <a:lstStyle/>
                    <a:p>
                      <a:r>
                        <a:t>角色定义、权限绑定、数据权限范围</a:t>
                      </a:r>
                    </a:p>
                  </a:txBody>
                  <a:tcPr>
                    <a:solidFill>
                      <a:srgbClr val="F3F4F6"/>
                    </a:solidFill>
                  </a:tcPr>
                </a:tc>
              </a:tr>
              <a:tr h="438912">
                <a:tc>
                  <a:txBody>
                    <a:bodyPr/>
                    <a:lstStyle/>
                    <a:p>
                      <a:r>
                        <a:t>部门管理</a:t>
                      </a:r>
                    </a:p>
                  </a:txBody>
                  <a:tcPr>
                    <a:solidFill>
                      <a:srgbClr val="FFFFFF"/>
                    </a:solidFill>
                  </a:tcPr>
                </a:tc>
                <a:tc>
                  <a:txBody>
                    <a:bodyPr/>
                    <a:lstStyle/>
                    <a:p>
                      <a:r>
                        <a:t>/settings/departments</a:t>
                      </a:r>
                    </a:p>
                  </a:txBody>
                  <a:tcPr>
                    <a:solidFill>
                      <a:srgbClr val="FFFFFF"/>
                    </a:solidFill>
                  </a:tcPr>
                </a:tc>
                <a:tc>
                  <a:txBody>
                    <a:bodyPr/>
                    <a:lstStyle/>
                    <a:p>
                      <a:r>
                        <a:t>departments</a:t>
                      </a:r>
                    </a:p>
                  </a:txBody>
                  <a:tcPr>
                    <a:solidFill>
                      <a:srgbClr val="FFFFFF"/>
                    </a:solidFill>
                  </a:tcPr>
                </a:tc>
                <a:tc>
                  <a:txBody>
                    <a:bodyPr/>
                    <a:lstStyle/>
                    <a:p>
                      <a:r>
                        <a:t>部门树、人员归属</a:t>
                      </a:r>
                    </a:p>
                  </a:txBody>
                  <a:tcPr>
                    <a:solidFill>
                      <a:srgbClr val="FFFFFF"/>
                    </a:solidFill>
                  </a:tcPr>
                </a:tc>
              </a:tr>
              <a:tr h="438912">
                <a:tc>
                  <a:txBody>
                    <a:bodyPr/>
                    <a:lstStyle/>
                    <a:p>
                      <a:r>
                        <a:t>职位管理</a:t>
                      </a:r>
                    </a:p>
                  </a:txBody>
                  <a:tcPr>
                    <a:solidFill>
                      <a:srgbClr val="F3F4F6"/>
                    </a:solidFill>
                  </a:tcPr>
                </a:tc>
                <a:tc>
                  <a:txBody>
                    <a:bodyPr/>
                    <a:lstStyle/>
                    <a:p>
                      <a:r>
                        <a:t>/settings/positions</a:t>
                      </a:r>
                    </a:p>
                  </a:txBody>
                  <a:tcPr>
                    <a:solidFill>
                      <a:srgbClr val="F3F4F6"/>
                    </a:solidFill>
                  </a:tcPr>
                </a:tc>
                <a:tc>
                  <a:txBody>
                    <a:bodyPr/>
                    <a:lstStyle/>
                    <a:p>
                      <a:r>
                        <a:t>positions</a:t>
                      </a:r>
                    </a:p>
                  </a:txBody>
                  <a:tcPr>
                    <a:solidFill>
                      <a:srgbClr val="F3F4F6"/>
                    </a:solidFill>
                  </a:tcPr>
                </a:tc>
                <a:tc>
                  <a:txBody>
                    <a:bodyPr/>
                    <a:lstStyle/>
                    <a:p>
                      <a:r>
                        <a:t>职位定义、职级体系</a:t>
                      </a:r>
                    </a:p>
                  </a:txBody>
                  <a:tcPr>
                    <a:solidFill>
                      <a:srgbClr val="F3F4F6"/>
                    </a:solidFill>
                  </a:tcPr>
                </a:tc>
              </a:tr>
              <a:tr h="438912">
                <a:tc>
                  <a:txBody>
                    <a:bodyPr/>
                    <a:lstStyle/>
                    <a:p>
                      <a:r>
                        <a:t>数据字典</a:t>
                      </a:r>
                    </a:p>
                  </a:txBody>
                  <a:tcPr>
                    <a:solidFill>
                      <a:srgbClr val="FFFFFF"/>
                    </a:solidFill>
                  </a:tcPr>
                </a:tc>
                <a:tc>
                  <a:txBody>
                    <a:bodyPr/>
                    <a:lstStyle/>
                    <a:p>
                      <a:r>
                        <a:t>/settings/dictionary</a:t>
                      </a:r>
                    </a:p>
                  </a:txBody>
                  <a:tcPr>
                    <a:solidFill>
                      <a:srgbClr val="FFFFFF"/>
                    </a:solidFill>
                  </a:tcPr>
                </a:tc>
                <a:tc>
                  <a:txBody>
                    <a:bodyPr/>
                    <a:lstStyle/>
                    <a:p>
                      <a:r>
                        <a:t>code_rules</a:t>
                      </a:r>
                    </a:p>
                  </a:txBody>
                  <a:tcPr>
                    <a:solidFill>
                      <a:srgbClr val="FFFFFF"/>
                    </a:solidFill>
                  </a:tcPr>
                </a:tc>
                <a:tc>
                  <a:txBody>
                    <a:bodyPr/>
                    <a:lstStyle/>
                    <a:p>
                      <a:r>
                        <a:t>编码规则、枚举值管理、自动编码生成</a:t>
                      </a:r>
                    </a:p>
                  </a:txBody>
                  <a:tcPr>
                    <a:solidFill>
                      <a:srgbClr val="FFFFFF"/>
                    </a:solidFill>
                  </a:tcPr>
                </a:tc>
              </a:tr>
              <a:tr h="438912">
                <a:tc>
                  <a:txBody>
                    <a:bodyPr/>
                    <a:lstStyle/>
                    <a:p>
                      <a:r>
                        <a:t>基地配置</a:t>
                      </a:r>
                    </a:p>
                  </a:txBody>
                  <a:tcPr>
                    <a:solidFill>
                      <a:srgbClr val="F3F4F6"/>
                    </a:solidFill>
                  </a:tcPr>
                </a:tc>
                <a:tc>
                  <a:txBody>
                    <a:bodyPr/>
                    <a:lstStyle/>
                    <a:p>
                      <a:r>
                        <a:t>/settings/base</a:t>
                      </a:r>
                    </a:p>
                  </a:txBody>
                  <a:tcPr>
                    <a:solidFill>
                      <a:srgbClr val="F3F4F6"/>
                    </a:solidFill>
                  </a:tcPr>
                </a:tc>
                <a:tc>
                  <a:txBody>
                    <a:bodyPr/>
                    <a:lstStyle/>
                    <a:p>
                      <a:r>
                        <a:t>greenhouses, zones, blocks</a:t>
                      </a:r>
                    </a:p>
                  </a:txBody>
                  <a:tcPr>
                    <a:solidFill>
                      <a:srgbClr val="F3F4F6"/>
                    </a:solidFill>
                  </a:tcPr>
                </a:tc>
                <a:tc>
                  <a:txBody>
                    <a:bodyPr/>
                    <a:lstStyle/>
                    <a:p>
                      <a:r>
                        <a:t>温室、区域、地块三级架构</a:t>
                      </a:r>
                    </a:p>
                  </a:txBody>
                  <a:tcPr>
                    <a:solidFill>
                      <a:srgbClr val="F3F4F6"/>
                    </a:solidFill>
                  </a:tcPr>
                </a:tc>
              </a:tr>
              <a:tr h="438912">
                <a:tc>
                  <a:txBody>
                    <a:bodyPr/>
                    <a:lstStyle/>
                    <a:p>
                      <a:r>
                        <a:t>审批流程</a:t>
                      </a:r>
                    </a:p>
                  </a:txBody>
                  <a:tcPr>
                    <a:solidFill>
                      <a:srgbClr val="FFFFFF"/>
                    </a:solidFill>
                  </a:tcPr>
                </a:tc>
                <a:tc>
                  <a:txBody>
                    <a:bodyPr/>
                    <a:lstStyle/>
                    <a:p>
                      <a:r>
                        <a:t>/settings/approval-workflow</a:t>
                      </a:r>
                    </a:p>
                  </a:txBody>
                  <a:tcPr>
                    <a:solidFill>
                      <a:srgbClr val="FFFFFF"/>
                    </a:solidFill>
                  </a:tcPr>
                </a:tc>
                <a:tc>
                  <a:txBody>
                    <a:bodyPr/>
                    <a:lstStyle/>
                    <a:p>
                      <a:r>
                        <a:t>approval_workflows, approval_rules</a:t>
                      </a:r>
                    </a:p>
                  </a:txBody>
                  <a:tcPr>
                    <a:solidFill>
                      <a:srgbClr val="FFFFFF"/>
                    </a:solidFill>
                  </a:tcPr>
                </a:tc>
                <a:tc>
                  <a:txBody>
                    <a:bodyPr/>
                    <a:lstStyle/>
                    <a:p>
                      <a:r>
                        <a:t>流程模板、审批规则、节点配置(JSON)</a:t>
                      </a:r>
                    </a:p>
                  </a:txBody>
                  <a:tcPr>
                    <a:solidFill>
                      <a:srgbClr val="FFFFFF"/>
                    </a:solidFill>
                  </a:tcPr>
                </a:tc>
              </a:tr>
              <a:tr h="438912">
                <a:tc>
                  <a:txBody>
                    <a:bodyPr/>
                    <a:lstStyle/>
                    <a:p>
                      <a:r>
                        <a:t>通知配置</a:t>
                      </a:r>
                    </a:p>
                  </a:txBody>
                  <a:tcPr>
                    <a:solidFill>
                      <a:srgbClr val="F3F4F6"/>
                    </a:solidFill>
                  </a:tcPr>
                </a:tc>
                <a:tc>
                  <a:txBody>
                    <a:bodyPr/>
                    <a:lstStyle/>
                    <a:p>
                      <a:r>
                        <a:t>/settings/notifications</a:t>
                      </a:r>
                    </a:p>
                  </a:txBody>
                  <a:tcPr>
                    <a:solidFill>
                      <a:srgbClr val="F3F4F6"/>
                    </a:solidFill>
                  </a:tcPr>
                </a:tc>
                <a:tc>
                  <a:txBody>
                    <a:bodyPr/>
                    <a:lstStyle/>
                    <a:p>
                      <a:r>
                        <a:t>notification_channels, notification_rules</a:t>
                      </a:r>
                    </a:p>
                  </a:txBody>
                  <a:tcPr>
                    <a:solidFill>
                      <a:srgbClr val="F3F4F6"/>
                    </a:solidFill>
                  </a:tcPr>
                </a:tc>
                <a:tc>
                  <a:txBody>
                    <a:bodyPr/>
                    <a:lstStyle/>
                    <a:p>
                      <a:r>
                        <a:t>渠道管理、规则引擎、消息推送</a:t>
                      </a:r>
                    </a:p>
                  </a:txBody>
                  <a:tcPr>
                    <a:solidFill>
                      <a:srgbClr val="F3F4F6"/>
                    </a:solidFill>
                  </a:tcPr>
                </a:tc>
              </a:tr>
              <a:tr h="438912">
                <a:tc>
                  <a:txBody>
                    <a:bodyPr/>
                    <a:lstStyle/>
                    <a:p>
                      <a:r>
                        <a:t>日志管理</a:t>
                      </a:r>
                    </a:p>
                  </a:txBody>
                  <a:tcPr>
                    <a:solidFill>
                      <a:srgbClr val="FFFFFF"/>
                    </a:solidFill>
                  </a:tcPr>
                </a:tc>
                <a:tc>
                  <a:txBody>
                    <a:bodyPr/>
                    <a:lstStyle/>
                    <a:p>
                      <a:r>
                        <a:t>/settings/logs</a:t>
                      </a:r>
                    </a:p>
                  </a:txBody>
                  <a:tcPr>
                    <a:solidFill>
                      <a:srgbClr val="FFFFFF"/>
                    </a:solidFill>
                  </a:tcPr>
                </a:tc>
                <a:tc>
                  <a:txBody>
                    <a:bodyPr/>
                    <a:lstStyle/>
                    <a:p>
                      <a:r>
                        <a:t>操作日志表</a:t>
                      </a:r>
                    </a:p>
                  </a:txBody>
                  <a:tcPr>
                    <a:solidFill>
                      <a:srgbClr val="FFFFFF"/>
                    </a:solidFill>
                  </a:tcPr>
                </a:tc>
                <a:tc>
                  <a:txBody>
                    <a:bodyPr/>
                    <a:lstStyle/>
                    <a:p>
                      <a:r>
                        <a:t>操作审计、登录日志、异常追踪</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数据库架构 - 核心表</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DATABASE SCHEMA  |  基于server/src/db/schema.ts源码提取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548640"/>
          </a:xfrm>
          <a:prstGeom prst="rect">
            <a:avLst/>
          </a:prstGeom>
          <a:noFill/>
        </p:spPr>
        <p:txBody>
          <a:bodyPr wrap="square">
            <a:spAutoFit/>
          </a:bodyPr>
          <a:lstStyle/>
          <a:p>
            <a:pPr>
              <a:lnSpc>
                <a:spcPct val="150000"/>
              </a:lnSpc>
              <a:defRPr sz="1200">
                <a:solidFill>
                  <a:srgbClr val="1F2937"/>
                </a:solidFill>
                <a:latin typeface="Microsoft YaHei"/>
              </a:defRPr>
            </a:pPr>
            <a:r>
              <a:t>数据库使用SQLite(sql.js)，共定义50+张表，采用逻辑外键（命名约定_id/_oid），大量使用JSON字段存储结构化配置。</a:t>
            </a:r>
          </a:p>
        </p:txBody>
      </p:sp>
      <p:graphicFrame>
        <p:nvGraphicFramePr>
          <p:cNvPr id="7" name="Table 6"/>
          <p:cNvGraphicFramePr>
            <a:graphicFrameLocks noGrp="1"/>
          </p:cNvGraphicFramePr>
          <p:nvPr/>
        </p:nvGraphicFramePr>
        <p:xfrm>
          <a:off x="457200" y="2011680"/>
          <a:ext cx="11247120" cy="4572000"/>
        </p:xfrm>
        <a:graphic>
          <a:graphicData uri="http://schemas.openxmlformats.org/drawingml/2006/table">
            <a:tbl>
              <a:tblPr firstRow="1" bandRow="1">
                <a:tableStyleId>{5C22544A-7EE6-4342-B048-85BDC9FD1C3A}</a:tableStyleId>
              </a:tblPr>
              <a:tblGrid>
                <a:gridCol w="3749040"/>
                <a:gridCol w="3749040"/>
                <a:gridCol w="3749040"/>
              </a:tblGrid>
              <a:tr h="508000">
                <a:tc>
                  <a:txBody>
                    <a:bodyPr/>
                    <a:lstStyle/>
                    <a:p>
                      <a:r>
                        <a:t>业务域</a:t>
                      </a:r>
                    </a:p>
                  </a:txBody>
                  <a:tcPr>
                    <a:solidFill>
                      <a:srgbClr val="1A565E"/>
                    </a:solidFill>
                  </a:tcPr>
                </a:tc>
                <a:tc>
                  <a:txBody>
                    <a:bodyPr/>
                    <a:lstStyle/>
                    <a:p>
                      <a:r>
                        <a:t>核心表</a:t>
                      </a:r>
                    </a:p>
                  </a:txBody>
                  <a:tcPr>
                    <a:solidFill>
                      <a:srgbClr val="1A565E"/>
                    </a:solidFill>
                  </a:tcPr>
                </a:tc>
                <a:tc>
                  <a:txBody>
                    <a:bodyPr/>
                    <a:lstStyle/>
                    <a:p>
                      <a:r>
                        <a:t>关键字段特征</a:t>
                      </a:r>
                    </a:p>
                  </a:txBody>
                  <a:tcPr>
                    <a:solidFill>
                      <a:srgbClr val="1A565E"/>
                    </a:solidFill>
                  </a:tcPr>
                </a:tc>
              </a:tr>
              <a:tr h="508000">
                <a:tc>
                  <a:txBody>
                    <a:bodyPr/>
                    <a:lstStyle/>
                    <a:p>
                      <a:r>
                        <a:t>系统基础</a:t>
                      </a:r>
                    </a:p>
                  </a:txBody>
                  <a:tcPr>
                    <a:solidFill>
                      <a:srgbClr val="FFFFFF"/>
                    </a:solidFill>
                  </a:tcPr>
                </a:tc>
                <a:tc>
                  <a:txBody>
                    <a:bodyPr/>
                    <a:lstStyle/>
                    <a:p>
                      <a:r>
                        <a:t>departments, positions, teams, warehouses, greenhouses, zones, blocks, code_rules, notification_channels, notification_rules</a:t>
                      </a:r>
                    </a:p>
                  </a:txBody>
                  <a:tcPr>
                    <a:solidFill>
                      <a:srgbClr val="FFFFFF"/>
                    </a:solidFill>
                  </a:tcPr>
                </a:tc>
                <a:tc>
                  <a:txBody>
                    <a:bodyPr/>
                    <a:lstStyle/>
                    <a:p>
                      <a:r>
                        <a:t>组织架构、基地结构、编码规则、通知</a:t>
                      </a:r>
                    </a:p>
                  </a:txBody>
                  <a:tcPr>
                    <a:solidFill>
                      <a:srgbClr val="FFFFFF"/>
                    </a:solidFill>
                  </a:tcPr>
                </a:tc>
              </a:tr>
              <a:tr h="508000">
                <a:tc>
                  <a:txBody>
                    <a:bodyPr/>
                    <a:lstStyle/>
                    <a:p>
                      <a:r>
                        <a:t>作物</a:t>
                      </a:r>
                    </a:p>
                  </a:txBody>
                  <a:tcPr>
                    <a:solidFill>
                      <a:srgbClr val="F3F4F6"/>
                    </a:solidFill>
                  </a:tcPr>
                </a:tc>
                <a:tc>
                  <a:txBody>
                    <a:bodyPr/>
                    <a:lstStyle/>
                    <a:p>
                      <a:r>
                        <a:t>crop_varieties, crop_instances, seed_sources, seedlings, plantings, harvest_records, transplant_records</a:t>
                      </a:r>
                    </a:p>
                  </a:txBody>
                  <a:tcPr>
                    <a:solidFill>
                      <a:srgbClr val="F3F4F6"/>
                    </a:solidFill>
                  </a:tcPr>
                </a:tc>
                <a:tc>
                  <a:txBody>
                    <a:bodyPr/>
                    <a:lstStyle/>
                    <a:p>
                      <a:r>
                        <a:t>品种定义、种源批次、育苗记录、移栽历史、采收</a:t>
                      </a:r>
                    </a:p>
                  </a:txBody>
                  <a:tcPr>
                    <a:solidFill>
                      <a:srgbClr val="F3F4F6"/>
                    </a:solidFill>
                  </a:tcPr>
                </a:tc>
              </a:tr>
              <a:tr h="508000">
                <a:tc>
                  <a:txBody>
                    <a:bodyPr/>
                    <a:lstStyle/>
                    <a:p>
                      <a:r>
                        <a:t>库存</a:t>
                      </a:r>
                    </a:p>
                  </a:txBody>
                  <a:tcPr>
                    <a:solidFill>
                      <a:srgbClr val="FFFFFF"/>
                    </a:solidFill>
                  </a:tcPr>
                </a:tc>
                <a:tc>
                  <a:txBody>
                    <a:bodyPr/>
                    <a:lstStyle/>
                    <a:p>
                      <a:r>
                        <a:t>inventory, materials, inbound_records, suppliers</a:t>
                      </a:r>
                    </a:p>
                  </a:txBody>
                  <a:tcPr>
                    <a:solidFill>
                      <a:srgbClr val="FFFFFF"/>
                    </a:solidFill>
                  </a:tcPr>
                </a:tc>
                <a:tc>
                  <a:txBody>
                    <a:bodyPr/>
                    <a:lstStyle/>
                    <a:p>
                      <a:r>
                        <a:t>库存数量、物料分类、入库记录、供应商档案</a:t>
                      </a:r>
                    </a:p>
                  </a:txBody>
                  <a:tcPr>
                    <a:solidFill>
                      <a:srgbClr val="FFFFFF"/>
                    </a:solidFill>
                  </a:tcPr>
                </a:tc>
              </a:tr>
              <a:tr h="508000">
                <a:tc>
                  <a:txBody>
                    <a:bodyPr/>
                    <a:lstStyle/>
                    <a:p>
                      <a:r>
                        <a:t>农事</a:t>
                      </a:r>
                    </a:p>
                  </a:txBody>
                  <a:tcPr>
                    <a:solidFill>
                      <a:srgbClr val="F3F4F6"/>
                    </a:solidFill>
                  </a:tcPr>
                </a:tc>
                <a:tc>
                  <a:txBody>
                    <a:bodyPr/>
                    <a:lstStyle/>
                    <a:p>
                      <a:r>
                        <a:t>farm_tasks, task_operation_records, inspections, problems, temp_tasks</a:t>
                      </a:r>
                    </a:p>
                  </a:txBody>
                  <a:tcPr>
                    <a:solidFill>
                      <a:srgbClr val="F3F4F6"/>
                    </a:solidFill>
                  </a:tcPr>
                </a:tc>
                <a:tc>
                  <a:txBody>
                    <a:bodyPr/>
                    <a:lstStyle/>
                    <a:p>
                      <a:r>
                        <a:t>任务状态、操作记录、巡查、问题、临时任务</a:t>
                      </a:r>
                    </a:p>
                  </a:txBody>
                  <a:tcPr>
                    <a:solidFill>
                      <a:srgbClr val="F3F4F6"/>
                    </a:solidFill>
                  </a:tcPr>
                </a:tc>
              </a:tr>
              <a:tr h="508000">
                <a:tc>
                  <a:txBody>
                    <a:bodyPr/>
                    <a:lstStyle/>
                    <a:p>
                      <a:r>
                        <a:t>人工</a:t>
                      </a:r>
                    </a:p>
                  </a:txBody>
                  <a:tcPr>
                    <a:solidFill>
                      <a:srgbClr val="FFFFFF"/>
                    </a:solidFill>
                  </a:tcPr>
                </a:tc>
                <a:tc>
                  <a:txBody>
                    <a:bodyPr/>
                    <a:lstStyle/>
                    <a:p>
                      <a:r>
                        <a:t>labor_records, attendance_records, overtime_records, leave_records, leave_quotas</a:t>
                      </a:r>
                    </a:p>
                  </a:txBody>
                  <a:tcPr>
                    <a:solidFill>
                      <a:srgbClr val="FFFFFF"/>
                    </a:solidFill>
                  </a:tcPr>
                </a:tc>
                <a:tc>
                  <a:txBody>
                    <a:bodyPr/>
                    <a:lstStyle/>
                    <a:p>
                      <a:r>
                        <a:t>工时记录、考勤打卡、加班、请假、假期额度</a:t>
                      </a:r>
                    </a:p>
                  </a:txBody>
                  <a:tcPr>
                    <a:solidFill>
                      <a:srgbClr val="FFFFFF"/>
                    </a:solidFill>
                  </a:tcPr>
                </a:tc>
              </a:tr>
              <a:tr h="508000">
                <a:tc>
                  <a:txBody>
                    <a:bodyPr/>
                    <a:lstStyle/>
                    <a:p>
                      <a:r>
                        <a:t>审批</a:t>
                      </a:r>
                    </a:p>
                  </a:txBody>
                  <a:tcPr>
                    <a:solidFill>
                      <a:srgbClr val="F3F4F6"/>
                    </a:solidFill>
                  </a:tcPr>
                </a:tc>
                <a:tc>
                  <a:txBody>
                    <a:bodyPr/>
                    <a:lstStyle/>
                    <a:p>
                      <a:r>
                        <a:t>approvals, approval_workflows, approval_rules</a:t>
                      </a:r>
                    </a:p>
                  </a:txBody>
                  <a:tcPr>
                    <a:solidFill>
                      <a:srgbClr val="F3F4F6"/>
                    </a:solidFill>
                  </a:tcPr>
                </a:tc>
                <a:tc>
                  <a:txBody>
                    <a:bodyPr/>
                    <a:lstStyle/>
                    <a:p>
                      <a:r>
                        <a:t>审批状态、审批人(JSON)、审批节点(JSON)、业务联动</a:t>
                      </a:r>
                    </a:p>
                  </a:txBody>
                  <a:tcPr>
                    <a:solidFill>
                      <a:srgbClr val="F3F4F6"/>
                    </a:solidFill>
                  </a:tcPr>
                </a:tc>
              </a:tr>
              <a:tr h="508000">
                <a:tc>
                  <a:txBody>
                    <a:bodyPr/>
                    <a:lstStyle/>
                    <a:p>
                      <a:r>
                        <a:t>认证</a:t>
                      </a:r>
                    </a:p>
                  </a:txBody>
                  <a:tcPr>
                    <a:solidFill>
                      <a:srgbClr val="FFFFFF"/>
                    </a:solidFill>
                  </a:tcPr>
                </a:tc>
                <a:tc>
                  <a:txBody>
                    <a:bodyPr/>
                    <a:lstStyle/>
                    <a:p>
                      <a:r>
                        <a:t>users, roles, permissions, user_roles, role_permissions, processes, actions, roles_authority, roles_data_authority</a:t>
                      </a:r>
                    </a:p>
                  </a:txBody>
                  <a:tcPr>
                    <a:solidFill>
                      <a:srgbClr val="FFFFFF"/>
                    </a:solidFill>
                  </a:tcPr>
                </a:tc>
                <a:tc>
                  <a:txBody>
                    <a:bodyPr/>
                    <a:lstStyle/>
                    <a:p>
                      <a:r>
                        <a:t>RBAC权限、数据权限范围、操作流程定义</a:t>
                      </a:r>
                    </a:p>
                  </a:txBody>
                  <a:tcPr>
                    <a:solidFill>
                      <a:srgbClr val="FFFFFF"/>
                    </a:solidFill>
                  </a:tcPr>
                </a:tc>
              </a:tr>
              <a:tr h="508000">
                <a:tc>
                  <a:txBody>
                    <a:bodyPr/>
                    <a:lstStyle/>
                    <a:p>
                      <a:r>
                        <a:t>计划</a:t>
                      </a:r>
                    </a:p>
                  </a:txBody>
                  <a:tcPr>
                    <a:solidFill>
                      <a:srgbClr val="F3F4F6"/>
                    </a:solidFill>
                  </a:tcPr>
                </a:tc>
                <a:tc>
                  <a:txBody>
                    <a:bodyPr/>
                    <a:lstStyle/>
                    <a:p>
                      <a:r>
                        <a:t>purchase_plans, material_requests, production_plans, crop_orders, tech_solutions, material_costs, energy_costs</a:t>
                      </a:r>
                    </a:p>
                  </a:txBody>
                  <a:tcPr>
                    <a:solidFill>
                      <a:srgbClr val="F3F4F6"/>
                    </a:solidFill>
                  </a:tcPr>
                </a:tc>
                <a:tc>
                  <a:txBody>
                    <a:bodyPr/>
                    <a:lstStyle/>
                    <a:p>
                      <a:r>
                        <a:t>采购计划、物料申请、生产计划、订单、技术方案、成本</a:t>
                      </a:r>
                    </a:p>
                  </a:txBody>
                  <a:tcPr>
                    <a:solidFill>
                      <a:srgbClr val="F3F4F6"/>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核心数据流</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DATA FLOW  |  基于前后端代码关联分析提取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5029200"/>
          </a:xfrm>
          <a:prstGeom prst="rect">
            <a:avLst/>
          </a:prstGeom>
          <a:noFill/>
        </p:spPr>
        <p:txBody>
          <a:bodyPr wrap="square">
            <a:spAutoFit/>
          </a:bodyPr>
          <a:lstStyle/>
          <a:p>
            <a:pPr>
              <a:spcAft>
                <a:spcPts val="500"/>
              </a:spcAft>
              <a:defRPr sz="1100" b="1">
                <a:solidFill>
                  <a:srgbClr val="2D8B8B"/>
                </a:solidFill>
                <a:latin typeface="Microsoft YaHei"/>
              </a:defRPr>
            </a:pPr>
            <a:r>
              <a:t>【订单→生产→农事→采收 主业务流程】</a:t>
            </a:r>
          </a:p>
          <a:p>
            <a:pPr>
              <a:spcAft>
                <a:spcPts val="500"/>
              </a:spcAft>
              <a:defRPr sz="1100">
                <a:solidFill>
                  <a:srgbClr val="1F2937"/>
                </a:solidFill>
                <a:latin typeface="Microsoft YaHei"/>
              </a:defRPr>
            </a:pPr>
            <a:r>
              <a:t>  crop_orders(订单) → production_plans(生产计划) → farm_tasks(农事任务)</a:t>
            </a:r>
          </a:p>
          <a:p>
            <a:pPr>
              <a:spcAft>
                <a:spcPts val="500"/>
              </a:spcAft>
              <a:defRPr sz="1100">
                <a:solidFill>
                  <a:srgbClr val="1F2937"/>
                </a:solidFill>
                <a:latin typeface="Microsoft YaHei"/>
              </a:defRPr>
            </a:pPr>
            <a:r>
              <a:t>    → harvest_records(采收记录) → inventory(产品库存) → 销售/出库</a:t>
            </a:r>
          </a:p>
          <a:p>
            <a:pPr>
              <a:spcAft>
                <a:spcPts val="500"/>
              </a:spcAft>
              <a:defRPr sz="1100">
                <a:solidFill>
                  <a:srgbClr val="1F2937"/>
                </a:solidFill>
                <a:latin typeface="Microsoft YaHei"/>
              </a:defRPr>
            </a:pPr>
          </a:p>
          <a:p>
            <a:pPr>
              <a:spcAft>
                <a:spcPts val="500"/>
              </a:spcAft>
              <a:defRPr sz="1100" b="1">
                <a:solidFill>
                  <a:srgbClr val="2D8B8B"/>
                </a:solidFill>
                <a:latin typeface="Microsoft YaHei"/>
              </a:defRPr>
            </a:pPr>
            <a:r>
              <a:t>【作物生命周期数据链】</a:t>
            </a:r>
          </a:p>
          <a:p>
            <a:pPr>
              <a:spcAft>
                <a:spcPts val="500"/>
              </a:spcAft>
              <a:defRPr sz="1100">
                <a:solidFill>
                  <a:srgbClr val="1F2937"/>
                </a:solidFill>
                <a:latin typeface="Microsoft YaHei"/>
              </a:defRPr>
            </a:pPr>
            <a:r>
              <a:t>  crop_varieties(品种定义) → seed_sources(种源采购) → seedlings(育苗) → transplant_records(移栽)</a:t>
            </a:r>
          </a:p>
          <a:p>
            <a:pPr>
              <a:spcAft>
                <a:spcPts val="500"/>
              </a:spcAft>
              <a:defRPr sz="1100">
                <a:solidFill>
                  <a:srgbClr val="1F2937"/>
                </a:solidFill>
                <a:latin typeface="Microsoft YaHei"/>
              </a:defRPr>
            </a:pPr>
            <a:r>
              <a:t>    → plantings(种植) → harvest_records(采收) → crop_instances(实例追溯)</a:t>
            </a:r>
          </a:p>
          <a:p>
            <a:pPr>
              <a:spcAft>
                <a:spcPts val="500"/>
              </a:spcAft>
              <a:defRPr sz="1100">
                <a:solidFill>
                  <a:srgbClr val="1F2937"/>
                </a:solidFill>
                <a:latin typeface="Microsoft YaHei"/>
              </a:defRPr>
            </a:pPr>
          </a:p>
          <a:p>
            <a:pPr>
              <a:spcAft>
                <a:spcPts val="500"/>
              </a:spcAft>
              <a:defRPr sz="1100" b="1">
                <a:solidFill>
                  <a:srgbClr val="2D8B8B"/>
                </a:solidFill>
                <a:latin typeface="Microsoft YaHei"/>
              </a:defRPr>
            </a:pPr>
            <a:r>
              <a:t>【物料流转数据链】</a:t>
            </a:r>
          </a:p>
          <a:p>
            <a:pPr>
              <a:spcAft>
                <a:spcPts val="500"/>
              </a:spcAft>
              <a:defRPr sz="1100">
                <a:solidFill>
                  <a:srgbClr val="1F2937"/>
                </a:solidFill>
                <a:latin typeface="Microsoft YaHei"/>
              </a:defRPr>
            </a:pPr>
            <a:r>
              <a:t>  suppliers(供应商) → purchase_plans(采购计划) → inbound_records(入库) → inventory(库存)</a:t>
            </a:r>
          </a:p>
          <a:p>
            <a:pPr>
              <a:spcAft>
                <a:spcPts val="500"/>
              </a:spcAft>
              <a:defRPr sz="1100">
                <a:solidFill>
                  <a:srgbClr val="1F2937"/>
                </a:solidFill>
                <a:latin typeface="Microsoft YaHei"/>
              </a:defRPr>
            </a:pPr>
            <a:r>
              <a:t>    → material_requests(领料申请[需审批]) → farm_tasks(任务消耗)</a:t>
            </a:r>
          </a:p>
          <a:p>
            <a:pPr>
              <a:spcAft>
                <a:spcPts val="500"/>
              </a:spcAft>
              <a:defRPr sz="1100">
                <a:solidFill>
                  <a:srgbClr val="1F2937"/>
                </a:solidFill>
                <a:latin typeface="Microsoft YaHei"/>
              </a:defRPr>
            </a:pPr>
            <a:r>
              <a:t>    → 退料 → inventory(回库)</a:t>
            </a:r>
          </a:p>
          <a:p>
            <a:pPr>
              <a:spcAft>
                <a:spcPts val="500"/>
              </a:spcAft>
              <a:defRPr sz="1100">
                <a:solidFill>
                  <a:srgbClr val="1F2937"/>
                </a:solidFill>
                <a:latin typeface="Microsoft YaHei"/>
              </a:defRPr>
            </a:pPr>
          </a:p>
          <a:p>
            <a:pPr>
              <a:spcAft>
                <a:spcPts val="500"/>
              </a:spcAft>
              <a:defRPr sz="1100" b="1">
                <a:solidFill>
                  <a:srgbClr val="2D8B8B"/>
                </a:solidFill>
                <a:latin typeface="Microsoft YaHei"/>
              </a:defRPr>
            </a:pPr>
            <a:r>
              <a:t>【人工管理数据链】</a:t>
            </a:r>
          </a:p>
          <a:p>
            <a:pPr>
              <a:spcAft>
                <a:spcPts val="500"/>
              </a:spcAft>
              <a:defRPr sz="1100">
                <a:solidFill>
                  <a:srgbClr val="1F2937"/>
                </a:solidFill>
                <a:latin typeface="Microsoft YaHei"/>
              </a:defRPr>
            </a:pPr>
            <a:r>
              <a:t>  users(员工) → departments/positions(组织架构) → attendance_records(考勤)</a:t>
            </a:r>
          </a:p>
          <a:p>
            <a:pPr>
              <a:spcAft>
                <a:spcPts val="500"/>
              </a:spcAft>
              <a:defRPr sz="1100">
                <a:solidFill>
                  <a:srgbClr val="1F2937"/>
                </a:solidFill>
                <a:latin typeface="Microsoft YaHei"/>
              </a:defRPr>
            </a:pPr>
            <a:r>
              <a:t>    → leave_records/overtime_records(请假/加班[需审批]) → labor_records(工时)</a:t>
            </a:r>
          </a:p>
          <a:p>
            <a:pPr>
              <a:spcAft>
                <a:spcPts val="500"/>
              </a:spcAft>
              <a:defRPr sz="1100">
                <a:solidFill>
                  <a:srgbClr val="1F2937"/>
                </a:solidFill>
                <a:latin typeface="Microsoft YaHei"/>
              </a:defRPr>
            </a:pPr>
            <a:r>
              <a:t>    → material_costs/energy_costs(成本) → 薪酬核算</a:t>
            </a:r>
          </a:p>
          <a:p>
            <a:pPr>
              <a:spcAft>
                <a:spcPts val="500"/>
              </a:spcAft>
              <a:defRPr sz="1100">
                <a:solidFill>
                  <a:srgbClr val="1F2937"/>
                </a:solidFill>
                <a:latin typeface="Microsoft YaHei"/>
              </a:defRPr>
            </a:pPr>
          </a:p>
          <a:p>
            <a:pPr>
              <a:spcAft>
                <a:spcPts val="500"/>
              </a:spcAft>
              <a:defRPr sz="1100" b="1">
                <a:solidFill>
                  <a:srgbClr val="2D8B8B"/>
                </a:solidFill>
                <a:latin typeface="Microsoft YaHei"/>
              </a:defRPr>
            </a:pPr>
            <a:r>
              <a:t>【审批引擎数据流】</a:t>
            </a:r>
          </a:p>
          <a:p>
            <a:pPr>
              <a:spcAft>
                <a:spcPts val="500"/>
              </a:spcAft>
              <a:defRPr sz="1100">
                <a:solidFill>
                  <a:srgbClr val="1F2937"/>
                </a:solidFill>
                <a:latin typeface="Microsoft YaHei"/>
              </a:defRPr>
            </a:pPr>
            <a:r>
              <a:t>  approval_workflows(流程模板) + approval_rules(规则) → approvals(审批实例)</a:t>
            </a:r>
          </a:p>
          <a:p>
            <a:pPr>
              <a:spcAft>
                <a:spcPts val="500"/>
              </a:spcAft>
              <a:defRPr sz="1100">
                <a:solidFill>
                  <a:srgbClr val="1F2937"/>
                </a:solidFill>
                <a:latin typeface="Microsoft YaHei"/>
              </a:defRPr>
            </a:pPr>
            <a:r>
              <a:t>    → 状态变更 → 业务表状态联动(如production_plans.batch_status)</a:t>
            </a:r>
          </a:p>
          <a:p>
            <a:pPr>
              <a:spcAft>
                <a:spcPts val="500"/>
              </a:spcAft>
              <a:defRPr sz="1100">
                <a:solidFill>
                  <a:srgbClr val="1F2937"/>
                </a:solidFill>
                <a:latin typeface="Microsoft YaHei"/>
              </a:defRPr>
            </a:pPr>
            <a:r>
              <a:t>    → notification_channels(通知推送) → 用户端消息</a:t>
            </a:r>
          </a:p>
          <a:p>
            <a:pPr>
              <a:spcAft>
                <a:spcPts val="500"/>
              </a:spcAft>
              <a:defRPr sz="1100">
                <a:solidFill>
                  <a:srgbClr val="1F2937"/>
                </a:solidFill>
                <a:latin typeface="Microsoft YaHei"/>
              </a:defRPr>
            </a:pPr>
          </a:p>
          <a:p>
            <a:pPr>
              <a:spcAft>
                <a:spcPts val="500"/>
              </a:spcAft>
              <a:defRPr sz="1100" b="1">
                <a:solidFill>
                  <a:srgbClr val="2D8B8B"/>
                </a:solidFill>
                <a:latin typeface="Microsoft YaHei"/>
              </a:defRPr>
            </a:pPr>
            <a:r>
              <a:t>【权限数据流】</a:t>
            </a:r>
          </a:p>
          <a:p>
            <a:pPr>
              <a:spcAft>
                <a:spcPts val="500"/>
              </a:spcAft>
              <a:defRPr sz="1100">
                <a:solidFill>
                  <a:srgbClr val="1F2937"/>
                </a:solidFill>
                <a:latin typeface="Microsoft YaHei"/>
              </a:defRPr>
            </a:pPr>
            <a:r>
              <a:t>  users → user_roles → roles → role_permissions → permissions(菜单/按钮权限)</a:t>
            </a:r>
          </a:p>
          <a:p>
            <a:pPr>
              <a:spcAft>
                <a:spcPts val="500"/>
              </a:spcAft>
              <a:defRPr sz="1100">
                <a:solidFill>
                  <a:srgbClr val="1F2937"/>
                </a:solidFill>
                <a:latin typeface="Microsoft YaHei"/>
              </a:defRPr>
            </a:pPr>
            <a:r>
              <a:t>  roles → roles_authority → processes/actions(操作权限)</a:t>
            </a:r>
          </a:p>
          <a:p>
            <a:pPr>
              <a:spcAft>
                <a:spcPts val="500"/>
              </a:spcAft>
              <a:defRPr sz="1100">
                <a:solidFill>
                  <a:srgbClr val="1F2937"/>
                </a:solidFill>
                <a:latin typeface="Microsoft YaHei"/>
              </a:defRPr>
            </a:pPr>
            <a:r>
              <a:t>  roles → roles_data_authority(数据可见范围: 全部/部门/个人)</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权限与数据安全</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AUTH &amp; SECURITY  |  基于authority.ts/roles路由代码提取</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5029200"/>
          </a:xfrm>
          <a:prstGeom prst="rect">
            <a:avLst/>
          </a:prstGeom>
          <a:noFill/>
        </p:spPr>
        <p:txBody>
          <a:bodyPr wrap="square">
            <a:spAutoFit/>
          </a:bodyPr>
          <a:lstStyle/>
          <a:p>
            <a:pPr>
              <a:spcAft>
                <a:spcPts val="500"/>
              </a:spcAft>
              <a:defRPr sz="1100" b="1">
                <a:solidFill>
                  <a:srgbClr val="2D8B8B"/>
                </a:solidFill>
                <a:latin typeface="Microsoft YaHei"/>
              </a:defRPr>
            </a:pPr>
            <a:r>
              <a:t>【认证机制（源码: server/src/routes/authority.ts）】</a:t>
            </a:r>
          </a:p>
          <a:p>
            <a:pPr>
              <a:spcAft>
                <a:spcPts val="500"/>
              </a:spcAft>
              <a:defRPr sz="1100">
                <a:solidFill>
                  <a:srgbClr val="1F2937"/>
                </a:solidFill>
                <a:latin typeface="Microsoft YaHei"/>
              </a:defRPr>
            </a:pPr>
            <a:r>
              <a:t>  • JWT Token: 登录成功返回access_token，前端存储于localStorage</a:t>
            </a:r>
          </a:p>
          <a:p>
            <a:pPr>
              <a:spcAft>
                <a:spcPts val="500"/>
              </a:spcAft>
              <a:defRPr sz="1100">
                <a:solidFill>
                  <a:srgbClr val="1F2937"/>
                </a:solidFill>
                <a:latin typeface="Microsoft YaHei"/>
              </a:defRPr>
            </a:pPr>
            <a:r>
              <a:t>  • 密码加密: bcrypt哈希存储，登录时比对</a:t>
            </a:r>
          </a:p>
          <a:p>
            <a:pPr>
              <a:spcAft>
                <a:spcPts val="500"/>
              </a:spcAft>
              <a:defRPr sz="1100">
                <a:solidFill>
                  <a:srgbClr val="1F2937"/>
                </a:solidFill>
                <a:latin typeface="Microsoft YaHei"/>
              </a:defRPr>
            </a:pPr>
            <a:r>
              <a:t>  • Token刷新: 支持token续期，过期自动跳转登录</a:t>
            </a:r>
          </a:p>
          <a:p>
            <a:pPr>
              <a:spcAft>
                <a:spcPts val="500"/>
              </a:spcAft>
              <a:defRPr sz="1100">
                <a:solidFill>
                  <a:srgbClr val="1F2937"/>
                </a:solidFill>
                <a:latin typeface="Microsoft YaHei"/>
              </a:defRPr>
            </a:pPr>
            <a:r>
              <a:t>  • 全局路由守卫: 除/authority和/health外全部路由requireAuth中间件</a:t>
            </a:r>
          </a:p>
          <a:p>
            <a:pPr>
              <a:spcAft>
                <a:spcPts val="500"/>
              </a:spcAft>
              <a:defRPr sz="1100">
                <a:solidFill>
                  <a:srgbClr val="1F2937"/>
                </a:solidFill>
                <a:latin typeface="Microsoft YaHei"/>
              </a:defRPr>
            </a:pPr>
          </a:p>
          <a:p>
            <a:pPr>
              <a:spcAft>
                <a:spcPts val="500"/>
              </a:spcAft>
              <a:defRPr sz="1100" b="1">
                <a:solidFill>
                  <a:srgbClr val="2D8B8B"/>
                </a:solidFill>
                <a:latin typeface="Microsoft YaHei"/>
              </a:defRPr>
            </a:pPr>
            <a:r>
              <a:t>【RBAC权限模型（源码: server/src/db/schema.ts + roles路由）】</a:t>
            </a:r>
          </a:p>
          <a:p>
            <a:pPr>
              <a:spcAft>
                <a:spcPts val="500"/>
              </a:spcAft>
              <a:defRPr sz="1100">
                <a:solidFill>
                  <a:srgbClr val="1F2937"/>
                </a:solidFill>
                <a:latin typeface="Microsoft YaHei"/>
              </a:defRPr>
            </a:pPr>
            <a:r>
              <a:t>  • users表: 用户基础信息、状态、部门、职位关联</a:t>
            </a:r>
          </a:p>
          <a:p>
            <a:pPr>
              <a:spcAft>
                <a:spcPts val="500"/>
              </a:spcAft>
              <a:defRPr sz="1100">
                <a:solidFill>
                  <a:srgbClr val="1F2937"/>
                </a:solidFill>
                <a:latin typeface="Microsoft YaHei"/>
              </a:defRPr>
            </a:pPr>
            <a:r>
              <a:t>  • roles表: 角色定义(管理员/基地负责人/组长/员工)</a:t>
            </a:r>
          </a:p>
          <a:p>
            <a:pPr>
              <a:spcAft>
                <a:spcPts val="500"/>
              </a:spcAft>
              <a:defRPr sz="1100">
                <a:solidFill>
                  <a:srgbClr val="1F2937"/>
                </a:solidFill>
                <a:latin typeface="Microsoft YaHei"/>
              </a:defRPr>
            </a:pPr>
            <a:r>
              <a:t>  • permissions表: 权限点(菜单可见、按钮可操作)</a:t>
            </a:r>
          </a:p>
          <a:p>
            <a:pPr>
              <a:spcAft>
                <a:spcPts val="500"/>
              </a:spcAft>
              <a:defRPr sz="1100">
                <a:solidFill>
                  <a:srgbClr val="1F2937"/>
                </a:solidFill>
                <a:latin typeface="Microsoft YaHei"/>
              </a:defRPr>
            </a:pPr>
            <a:r>
              <a:t>  • user_roles: 用户-角色多对多</a:t>
            </a:r>
          </a:p>
          <a:p>
            <a:pPr>
              <a:spcAft>
                <a:spcPts val="500"/>
              </a:spcAft>
              <a:defRPr sz="1100">
                <a:solidFill>
                  <a:srgbClr val="1F2937"/>
                </a:solidFill>
                <a:latin typeface="Microsoft YaHei"/>
              </a:defRPr>
            </a:pPr>
            <a:r>
              <a:t>  • role_permissions: 角色-权限多对多</a:t>
            </a:r>
          </a:p>
          <a:p>
            <a:pPr>
              <a:spcAft>
                <a:spcPts val="500"/>
              </a:spcAft>
              <a:defRPr sz="1100">
                <a:solidFill>
                  <a:srgbClr val="1F2937"/>
                </a:solidFill>
                <a:latin typeface="Microsoft YaHei"/>
              </a:defRPr>
            </a:pPr>
          </a:p>
          <a:p>
            <a:pPr>
              <a:spcAft>
                <a:spcPts val="500"/>
              </a:spcAft>
              <a:defRPr sz="1100" b="1">
                <a:solidFill>
                  <a:srgbClr val="2D8B8B"/>
                </a:solidFill>
                <a:latin typeface="Microsoft YaHei"/>
              </a:defRPr>
            </a:pPr>
            <a:r>
              <a:t>【数据权限（源码: roles_data_authority表）】</a:t>
            </a:r>
          </a:p>
          <a:p>
            <a:pPr>
              <a:spcAft>
                <a:spcPts val="500"/>
              </a:spcAft>
              <a:defRPr sz="1100">
                <a:solidFill>
                  <a:srgbClr val="1F2937"/>
                </a:solidFill>
                <a:latin typeface="Microsoft YaHei"/>
              </a:defRPr>
            </a:pPr>
            <a:r>
              <a:t>  • 全部数据: 管理员可见全部</a:t>
            </a:r>
          </a:p>
          <a:p>
            <a:pPr>
              <a:spcAft>
                <a:spcPts val="500"/>
              </a:spcAft>
              <a:defRPr sz="1100">
                <a:solidFill>
                  <a:srgbClr val="1F2937"/>
                </a:solidFill>
                <a:latin typeface="Microsoft YaHei"/>
              </a:defRPr>
            </a:pPr>
            <a:r>
              <a:t>  • 部门数据: 部门负责人可见本部门</a:t>
            </a:r>
          </a:p>
          <a:p>
            <a:pPr>
              <a:spcAft>
                <a:spcPts val="500"/>
              </a:spcAft>
              <a:defRPr sz="1100">
                <a:solidFill>
                  <a:srgbClr val="1F2937"/>
                </a:solidFill>
                <a:latin typeface="Microsoft YaHei"/>
              </a:defRPr>
            </a:pPr>
            <a:r>
              <a:t>  • 个人数据: 普通员工仅可见自己</a:t>
            </a:r>
          </a:p>
          <a:p>
            <a:pPr>
              <a:spcAft>
                <a:spcPts val="500"/>
              </a:spcAft>
              <a:defRPr sz="1100">
                <a:solidFill>
                  <a:srgbClr val="1F2937"/>
                </a:solidFill>
                <a:latin typeface="Microsoft YaHei"/>
              </a:defRPr>
            </a:pPr>
            <a:r>
              <a:t>  • 数据权限与操作权限独立配置，灵活适配多层级管理</a:t>
            </a:r>
          </a:p>
          <a:p>
            <a:pPr>
              <a:spcAft>
                <a:spcPts val="500"/>
              </a:spcAft>
              <a:defRPr sz="1100">
                <a:solidFill>
                  <a:srgbClr val="1F2937"/>
                </a:solidFill>
                <a:latin typeface="Microsoft YaHei"/>
              </a:defRPr>
            </a:pPr>
          </a:p>
          <a:p>
            <a:pPr>
              <a:spcAft>
                <a:spcPts val="500"/>
              </a:spcAft>
              <a:defRPr sz="1100" b="1">
                <a:solidFill>
                  <a:srgbClr val="2D8B8B"/>
                </a:solidFill>
                <a:latin typeface="Microsoft YaHei"/>
              </a:defRPr>
            </a:pPr>
            <a:r>
              <a:t>【操作权限（源码: roles_authority + processes/actions表）】</a:t>
            </a:r>
          </a:p>
          <a:p>
            <a:pPr>
              <a:spcAft>
                <a:spcPts val="500"/>
              </a:spcAft>
              <a:defRPr sz="1100">
                <a:solidFill>
                  <a:srgbClr val="1F2937"/>
                </a:solidFill>
                <a:latin typeface="Microsoft YaHei"/>
              </a:defRPr>
            </a:pPr>
            <a:r>
              <a:t>  • processes: 业务流程定义</a:t>
            </a:r>
          </a:p>
          <a:p>
            <a:pPr>
              <a:spcAft>
                <a:spcPts val="500"/>
              </a:spcAft>
              <a:defRPr sz="1100">
                <a:solidFill>
                  <a:srgbClr val="1F2937"/>
                </a:solidFill>
                <a:latin typeface="Microsoft YaHei"/>
              </a:defRPr>
            </a:pPr>
            <a:r>
              <a:t>  • actions: 操作动作定义(创建/编辑/删除/审批等)</a:t>
            </a:r>
          </a:p>
          <a:p>
            <a:pPr>
              <a:spcAft>
                <a:spcPts val="500"/>
              </a:spcAft>
              <a:defRPr sz="1100">
                <a:solidFill>
                  <a:srgbClr val="1F2937"/>
                </a:solidFill>
                <a:latin typeface="Microsoft YaHei"/>
              </a:defRPr>
            </a:pPr>
            <a:r>
              <a:t>  • roles_authority: 角色-操作绑定，控制按钮显隐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5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548640"/>
          </a:xfrm>
          <a:prstGeom prst="rect">
            <a:avLst/>
          </a:prstGeom>
          <a:noFill/>
        </p:spPr>
        <p:txBody>
          <a:bodyPr wrap="none">
            <a:spAutoFit/>
          </a:bodyPr>
          <a:lstStyle/>
          <a:p>
            <a:pPr>
              <a:defRPr sz="2600" b="1">
                <a:solidFill>
                  <a:srgbClr val="1A565E"/>
                </a:solidFill>
                <a:latin typeface="Microsoft YaHei"/>
              </a:defRPr>
            </a:pPr>
            <a:r>
              <a:t>系统总结</a:t>
            </a:r>
          </a:p>
        </p:txBody>
      </p:sp>
      <p:sp>
        <p:nvSpPr>
          <p:cNvPr id="4" name="TextBox 3"/>
          <p:cNvSpPr txBox="1"/>
          <p:nvPr/>
        </p:nvSpPr>
        <p:spPr>
          <a:xfrm>
            <a:off x="457200" y="822960"/>
            <a:ext cx="10972800" cy="365760"/>
          </a:xfrm>
          <a:prstGeom prst="rect">
            <a:avLst/>
          </a:prstGeom>
          <a:noFill/>
        </p:spPr>
        <p:txBody>
          <a:bodyPr wrap="none">
            <a:spAutoFit/>
          </a:bodyPr>
          <a:lstStyle/>
          <a:p>
            <a:pPr>
              <a:defRPr sz="1300">
                <a:solidFill>
                  <a:srgbClr val="6B7280"/>
                </a:solidFill>
                <a:latin typeface="Microsoft YaHei"/>
              </a:defRPr>
            </a:pPr>
            <a:r>
              <a:t>SUMMARY  |  弘智耘智慧农业管理系统 V1.1</a:t>
            </a:r>
          </a:p>
        </p:txBody>
      </p:sp>
      <p:sp>
        <p:nvSpPr>
          <p:cNvPr id="5" name="Rectangle 4"/>
          <p:cNvSpPr/>
          <p:nvPr/>
        </p:nvSpPr>
        <p:spPr>
          <a:xfrm>
            <a:off x="457200" y="1097280"/>
            <a:ext cx="10972800" cy="127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4754880"/>
          </a:xfrm>
          <a:prstGeom prst="rect">
            <a:avLst/>
          </a:prstGeom>
          <a:noFill/>
        </p:spPr>
        <p:txBody>
          <a:bodyPr wrap="square">
            <a:spAutoFit/>
          </a:bodyPr>
          <a:lstStyle/>
          <a:p>
            <a:pPr>
              <a:spcAft>
                <a:spcPts val="500"/>
              </a:spcAft>
              <a:defRPr sz="1200" b="1">
                <a:solidFill>
                  <a:srgbClr val="1A565E"/>
                </a:solidFill>
                <a:latin typeface="Microsoft YaHei"/>
              </a:defRPr>
            </a:pPr>
            <a:r>
              <a:t>【系统定位】</a:t>
            </a:r>
          </a:p>
          <a:p>
            <a:pPr>
              <a:spcAft>
                <a:spcPts val="500"/>
              </a:spcAft>
              <a:defRPr sz="1200">
                <a:solidFill>
                  <a:srgbClr val="1F2937"/>
                </a:solidFill>
                <a:latin typeface="Microsoft YaHei"/>
              </a:defRPr>
            </a:pPr>
            <a:r>
              <a:t>  弘智耘智慧农业管理系统是一个覆盖农业生产全链路、人力资源管理、库存管理、审批管理的</a:t>
            </a:r>
          </a:p>
          <a:p>
            <a:pPr>
              <a:spcAft>
                <a:spcPts val="500"/>
              </a:spcAft>
              <a:defRPr sz="1200">
                <a:solidFill>
                  <a:srgbClr val="1F2937"/>
                </a:solidFill>
                <a:latin typeface="Microsoft YaHei"/>
              </a:defRPr>
            </a:pPr>
            <a:r>
              <a:t>  综合性数字化平台。系统通过50+数据库表、40+API路由、80+前端页面，实现了从计划制定</a:t>
            </a:r>
          </a:p>
          <a:p>
            <a:pPr>
              <a:spcAft>
                <a:spcPts val="500"/>
              </a:spcAft>
              <a:defRPr sz="1200">
                <a:solidFill>
                  <a:srgbClr val="1F2937"/>
                </a:solidFill>
                <a:latin typeface="Microsoft YaHei"/>
              </a:defRPr>
            </a:pPr>
            <a:r>
              <a:t>  到任务执行、从作物种植到采收入库、从人员考勤到薪酬核算的完整闭环。</a:t>
            </a:r>
          </a:p>
          <a:p>
            <a:pPr>
              <a:spcAft>
                <a:spcPts val="500"/>
              </a:spcAft>
              <a:defRPr sz="1200">
                <a:solidFill>
                  <a:srgbClr val="1F2937"/>
                </a:solidFill>
                <a:latin typeface="Microsoft YaHei"/>
              </a:defRPr>
            </a:pPr>
          </a:p>
          <a:p>
            <a:pPr>
              <a:spcAft>
                <a:spcPts val="500"/>
              </a:spcAft>
              <a:defRPr sz="1200" b="1">
                <a:solidFill>
                  <a:srgbClr val="1A565E"/>
                </a:solidFill>
                <a:latin typeface="Microsoft YaHei"/>
              </a:defRPr>
            </a:pPr>
            <a:r>
              <a:t>【技术亮点】</a:t>
            </a:r>
          </a:p>
          <a:p>
            <a:pPr>
              <a:spcAft>
                <a:spcPts val="500"/>
              </a:spcAft>
              <a:defRPr sz="1200">
                <a:solidFill>
                  <a:srgbClr val="1F2937"/>
                </a:solidFill>
                <a:latin typeface="Microsoft YaHei"/>
              </a:defRPr>
            </a:pPr>
            <a:r>
              <a:t>  • 前后端分离架构，React 18 + Express，开发效率高</a:t>
            </a:r>
          </a:p>
          <a:p>
            <a:pPr>
              <a:spcAft>
                <a:spcPts val="500"/>
              </a:spcAft>
              <a:defRPr sz="1200">
                <a:solidFill>
                  <a:srgbClr val="1F2937"/>
                </a:solidFill>
                <a:latin typeface="Microsoft YaHei"/>
              </a:defRPr>
            </a:pPr>
            <a:r>
              <a:t>  • 完整的RBAC权限体系 + 数据权限控制，安全保障充分</a:t>
            </a:r>
          </a:p>
          <a:p>
            <a:pPr>
              <a:spcAft>
                <a:spcPts val="500"/>
              </a:spcAft>
              <a:defRPr sz="1200">
                <a:solidFill>
                  <a:srgbClr val="1F2937"/>
                </a:solidFill>
                <a:latin typeface="Microsoft YaHei"/>
              </a:defRPr>
            </a:pPr>
            <a:r>
              <a:t>  • 审批引擎支持5级审批、批量审批、业务联动回调</a:t>
            </a:r>
          </a:p>
          <a:p>
            <a:pPr>
              <a:spcAft>
                <a:spcPts val="500"/>
              </a:spcAft>
              <a:defRPr sz="1200">
                <a:solidFill>
                  <a:srgbClr val="1F2937"/>
                </a:solidFill>
                <a:latin typeface="Microsoft YaHei"/>
              </a:defRPr>
            </a:pPr>
            <a:r>
              <a:t>  • AI辅助任务派发，提升人力资源配置效率</a:t>
            </a:r>
          </a:p>
          <a:p>
            <a:pPr>
              <a:spcAft>
                <a:spcPts val="500"/>
              </a:spcAft>
              <a:defRPr sz="1200">
                <a:solidFill>
                  <a:srgbClr val="1F2937"/>
                </a:solidFill>
                <a:latin typeface="Microsoft YaHei"/>
              </a:defRPr>
            </a:pPr>
            <a:r>
              <a:t>  • 作物全生命周期追溯，从种源到销售链路可查</a:t>
            </a:r>
          </a:p>
          <a:p>
            <a:pPr>
              <a:spcAft>
                <a:spcPts val="500"/>
              </a:spcAft>
              <a:defRPr sz="1200">
                <a:solidFill>
                  <a:srgbClr val="1F2937"/>
                </a:solidFill>
                <a:latin typeface="Microsoft YaHei"/>
              </a:defRPr>
            </a:pPr>
            <a:r>
              <a:t>  • 多端适配，主布局(MainLayout) + 独立页面 + 设置页(SimpleLayout)</a:t>
            </a:r>
          </a:p>
          <a:p>
            <a:pPr>
              <a:spcAft>
                <a:spcPts val="500"/>
              </a:spcAft>
              <a:defRPr sz="1200">
                <a:solidFill>
                  <a:srgbClr val="1F2937"/>
                </a:solidFill>
                <a:latin typeface="Microsoft YaHei"/>
              </a:defRPr>
            </a:pPr>
          </a:p>
          <a:p>
            <a:pPr>
              <a:spcAft>
                <a:spcPts val="500"/>
              </a:spcAft>
              <a:defRPr sz="1200" b="1">
                <a:solidFill>
                  <a:srgbClr val="1A565E"/>
                </a:solidFill>
                <a:latin typeface="Microsoft YaHei"/>
              </a:defRPr>
            </a:pPr>
            <a:r>
              <a:t>【业务价值】</a:t>
            </a:r>
          </a:p>
          <a:p>
            <a:pPr>
              <a:spcAft>
                <a:spcPts val="500"/>
              </a:spcAft>
              <a:defRPr sz="1200">
                <a:solidFill>
                  <a:srgbClr val="1F2937"/>
                </a:solidFill>
                <a:latin typeface="Microsoft YaHei"/>
              </a:defRPr>
            </a:pPr>
            <a:r>
              <a:t>  • 实现农业生产全流程数字化，提升管理透明度</a:t>
            </a:r>
          </a:p>
          <a:p>
            <a:pPr>
              <a:spcAft>
                <a:spcPts val="500"/>
              </a:spcAft>
              <a:defRPr sz="1200">
                <a:solidFill>
                  <a:srgbClr val="1F2937"/>
                </a:solidFill>
                <a:latin typeface="Microsoft YaHei"/>
              </a:defRPr>
            </a:pPr>
            <a:r>
              <a:t>  • 农事任务智能派发与跟踪，降低管理成本</a:t>
            </a:r>
          </a:p>
          <a:p>
            <a:pPr>
              <a:spcAft>
                <a:spcPts val="500"/>
              </a:spcAft>
              <a:defRPr sz="1200">
                <a:solidFill>
                  <a:srgbClr val="1F2937"/>
                </a:solidFill>
                <a:latin typeface="Microsoft YaHei"/>
              </a:defRPr>
            </a:pPr>
            <a:r>
              <a:t>  • 库存精细化管理，减少物料浪费</a:t>
            </a:r>
          </a:p>
          <a:p>
            <a:pPr>
              <a:spcAft>
                <a:spcPts val="500"/>
              </a:spcAft>
              <a:defRPr sz="1200">
                <a:solidFill>
                  <a:srgbClr val="1F2937"/>
                </a:solidFill>
                <a:latin typeface="Microsoft YaHei"/>
              </a:defRPr>
            </a:pPr>
            <a:r>
              <a:t>  • 人事薪酬自动化，提高运营效率</a:t>
            </a:r>
          </a:p>
          <a:p>
            <a:pPr>
              <a:spcAft>
                <a:spcPts val="500"/>
              </a:spcAft>
              <a:defRPr sz="1200">
                <a:solidFill>
                  <a:srgbClr val="1F2937"/>
                </a:solidFill>
                <a:latin typeface="Microsoft YaHei"/>
              </a:defRPr>
            </a:pPr>
            <a:r>
              <a:t>  • 审批流程标准化，保障业务合规性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